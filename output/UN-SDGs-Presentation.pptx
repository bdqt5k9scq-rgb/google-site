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4.jpeg"/><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p:sp>
        <p:nvSpPr>
          <p:cNvPr id="2" name="Rectangle 1"/>
          <p:cNvSpPr/>
          <p:nvPr/>
        </p:nvSpPr>
        <p:spPr>
          <a:xfrm>
            <a:off x="914400" y="0"/>
            <a:ext cx="0"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2468880"/>
            <a:ext cx="301752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914400"/>
            <a:ext cx="9418320" cy="365760"/>
          </a:xfrm>
          <a:prstGeom prst="rect">
            <a:avLst/>
          </a:prstGeom>
          <a:noFill/>
        </p:spPr>
        <p:txBody>
          <a:bodyPr wrap="square" anchor="t"/>
          <a:lstStyle/>
          <a:p>
            <a:pPr algn="ctr">
              <a:lnSpc>
                <a:spcPts val="1150"/>
              </a:lnSpc>
              <a:spcAft>
                <a:spcPts val="400"/>
              </a:spcAft>
              <a:defRPr sz="1000" b="1">
                <a:solidFill>
                  <a:srgbClr val="C48B5C"/>
                </a:solidFill>
                <a:latin typeface="Segoe UI" panose="020B0502040204020203"/>
              </a:defRPr>
            </a:pPr>
            <a:r>
              <a:t>UNITED NATIONS · 2030 AGENDA</a:t>
            </a:r>
          </a:p>
        </p:txBody>
      </p:sp>
      <p:sp>
        <p:nvSpPr>
          <p:cNvPr id="5" name="TextBox 4"/>
          <p:cNvSpPr txBox="1"/>
          <p:nvPr/>
        </p:nvSpPr>
        <p:spPr>
          <a:xfrm>
            <a:off x="1371600" y="1645920"/>
            <a:ext cx="9418320" cy="1463040"/>
          </a:xfrm>
          <a:prstGeom prst="rect">
            <a:avLst/>
          </a:prstGeom>
          <a:noFill/>
        </p:spPr>
        <p:txBody>
          <a:bodyPr wrap="square" anchor="t"/>
          <a:lstStyle/>
          <a:p>
            <a:pPr algn="ctr">
              <a:lnSpc>
                <a:spcPts val="4830"/>
              </a:lnSpc>
              <a:spcAft>
                <a:spcPts val="400"/>
              </a:spcAft>
              <a:defRPr sz="4200" b="1">
                <a:solidFill>
                  <a:srgbClr val="FFFFFF"/>
                </a:solidFill>
                <a:latin typeface="Georgia" panose="02040502050405020303"/>
              </a:defRPr>
            </a:pPr>
            <a:r>
              <a:t>The Sustainable</a:t>
            </a:r>
            <a:br/>
            <a:r>
              <a:t>Development Goals</a:t>
            </a:r>
          </a:p>
        </p:txBody>
      </p:sp>
      <p:sp>
        <p:nvSpPr>
          <p:cNvPr id="6" name="TextBox 5"/>
          <p:cNvSpPr txBox="1"/>
          <p:nvPr/>
        </p:nvSpPr>
        <p:spPr>
          <a:xfrm>
            <a:off x="1371600" y="3108960"/>
            <a:ext cx="9418320" cy="640080"/>
          </a:xfrm>
          <a:prstGeom prst="rect">
            <a:avLst/>
          </a:prstGeom>
          <a:noFill/>
        </p:spPr>
        <p:txBody>
          <a:bodyPr wrap="square" anchor="t"/>
          <a:lstStyle/>
          <a:p>
            <a:pPr algn="ctr">
              <a:lnSpc>
                <a:spcPts val="1610"/>
              </a:lnSpc>
              <a:spcAft>
                <a:spcPts val="400"/>
              </a:spcAft>
              <a:defRPr sz="1400" b="0">
                <a:solidFill>
                  <a:srgbClr val="AAAABB"/>
                </a:solidFill>
                <a:latin typeface="Segoe UI" panose="020B0502040204020203"/>
              </a:defRPr>
            </a:pPr>
            <a:r>
              <a:t>A course project exploring all 17 goals, what they mean,</a:t>
            </a:r>
            <a:br/>
            <a:r>
              <a:t>and how technology can help people understand them better</a:t>
            </a:r>
          </a:p>
        </p:txBody>
      </p:sp>
      <p:sp>
        <p:nvSpPr>
          <p:cNvPr id="7" name="TextBox 6"/>
          <p:cNvSpPr txBox="1"/>
          <p:nvPr/>
        </p:nvSpPr>
        <p:spPr>
          <a:xfrm>
            <a:off x="1828800" y="4754880"/>
            <a:ext cx="8503920" cy="1463040"/>
          </a:xfrm>
          <a:prstGeom prst="rect">
            <a:avLst/>
          </a:prstGeom>
          <a:noFill/>
        </p:spPr>
        <p:txBody>
          <a:bodyPr wrap="square" anchor="t"/>
          <a:lstStyle/>
          <a:p>
            <a:pPr algn="ctr">
              <a:lnSpc>
                <a:spcPts val="1380"/>
              </a:lnSpc>
              <a:spcAft>
                <a:spcPts val="400"/>
              </a:spcAft>
              <a:defRPr sz="1200" b="0">
                <a:solidFill>
                  <a:srgbClr val="888899"/>
                </a:solidFill>
                <a:latin typeface="Segoe UI" panose="020B0502040204020203"/>
              </a:defRPr>
            </a:pPr>
            <a:r>
              <a:t>Li Shuhang  ·  Feng Jingyi  ·  Wang Luyang  ·  Lu Jianning</a:t>
            </a:r>
          </a:p>
          <a:p>
            <a:pPr algn="ctr">
              <a:lnSpc>
                <a:spcPts val="1265"/>
              </a:lnSpc>
              <a:spcAft>
                <a:spcPts val="600"/>
              </a:spcAft>
              <a:defRPr sz="1100" b="0">
                <a:solidFill>
                  <a:srgbClr val="6B6560"/>
                </a:solidFill>
                <a:latin typeface="Segoe UI" panose="020B0502040204020203"/>
              </a:defRPr>
            </a:pPr>
            <a:r>
              <a:t>Academic Course Presentation  ·  June 2026</a:t>
            </a:r>
          </a:p>
        </p:txBody>
      </p:sp>
      <p:sp>
        <p:nvSpPr>
          <p:cNvPr id="42" name="TextBox 41"/>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Presentation Outline</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What we'll cover in the next 20 minutes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08760"/>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1508760"/>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691640"/>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01  Introduction to the SDGs</a:t>
            </a:r>
          </a:p>
        </p:txBody>
      </p:sp>
      <p:sp>
        <p:nvSpPr>
          <p:cNvPr id="9" name="TextBox 8"/>
          <p:cNvSpPr txBox="1"/>
          <p:nvPr/>
        </p:nvSpPr>
        <p:spPr>
          <a:xfrm>
            <a:off x="1417320" y="2148840"/>
            <a:ext cx="2423160" cy="1051559"/>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Where they came from, what they cover, and how they're structured</a:t>
            </a:r>
          </a:p>
        </p:txBody>
      </p:sp>
      <p:sp>
        <p:nvSpPr>
          <p:cNvPr id="10" name="Rounded Rectangle 9"/>
          <p:cNvSpPr/>
          <p:nvPr/>
        </p:nvSpPr>
        <p:spPr>
          <a:xfrm>
            <a:off x="4251960" y="1508760"/>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60" y="1508760"/>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691640"/>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02  The 17 Goals at a Glance</a:t>
            </a:r>
          </a:p>
        </p:txBody>
      </p:sp>
      <p:sp>
        <p:nvSpPr>
          <p:cNvPr id="13" name="TextBox 12"/>
          <p:cNvSpPr txBox="1"/>
          <p:nvPr/>
        </p:nvSpPr>
        <p:spPr>
          <a:xfrm>
            <a:off x="4572000" y="2148840"/>
            <a:ext cx="2423160" cy="1051559"/>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A walk through all 17 goals, how they group together, and two deep dives</a:t>
            </a:r>
          </a:p>
        </p:txBody>
      </p:sp>
      <p:sp>
        <p:nvSpPr>
          <p:cNvPr id="14" name="Rounded Rectangle 13"/>
          <p:cNvSpPr/>
          <p:nvPr/>
        </p:nvSpPr>
        <p:spPr>
          <a:xfrm>
            <a:off x="7406640" y="1508760"/>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0" y="1508760"/>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80" y="1691640"/>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03  Why the SDGs Exist</a:t>
            </a:r>
          </a:p>
        </p:txBody>
      </p:sp>
      <p:sp>
        <p:nvSpPr>
          <p:cNvPr id="17" name="TextBox 16"/>
          <p:cNvSpPr txBox="1"/>
          <p:nvPr/>
        </p:nvSpPr>
        <p:spPr>
          <a:xfrm>
            <a:off x="7726680" y="2148840"/>
            <a:ext cx="2423160" cy="1051559"/>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The problems they're trying to solve and how they approach them differently</a:t>
            </a:r>
          </a:p>
        </p:txBody>
      </p:sp>
      <p:sp>
        <p:nvSpPr>
          <p:cNvPr id="18" name="Rounded Rectangle 17"/>
          <p:cNvSpPr/>
          <p:nvPr/>
        </p:nvSpPr>
        <p:spPr>
          <a:xfrm>
            <a:off x="1097280" y="3611879"/>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3611879"/>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7320" y="3794759"/>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04  Our Team &amp; This Project</a:t>
            </a:r>
          </a:p>
        </p:txBody>
      </p:sp>
      <p:sp>
        <p:nvSpPr>
          <p:cNvPr id="21" name="TextBox 20"/>
          <p:cNvSpPr txBox="1"/>
          <p:nvPr/>
        </p:nvSpPr>
        <p:spPr>
          <a:xfrm>
            <a:off x="1417320" y="4251959"/>
            <a:ext cx="2423160" cy="1051559"/>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Four people, four backgrounds, one website about the SDGs</a:t>
            </a:r>
          </a:p>
        </p:txBody>
      </p:sp>
      <p:sp>
        <p:nvSpPr>
          <p:cNvPr id="22" name="Rounded Rectangle 21"/>
          <p:cNvSpPr/>
          <p:nvPr/>
        </p:nvSpPr>
        <p:spPr>
          <a:xfrm>
            <a:off x="4251960" y="3611879"/>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51960" y="3611879"/>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794759"/>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05  What We Built</a:t>
            </a:r>
          </a:p>
        </p:txBody>
      </p:sp>
      <p:sp>
        <p:nvSpPr>
          <p:cNvPr id="25" name="TextBox 24"/>
          <p:cNvSpPr txBox="1"/>
          <p:nvPr/>
        </p:nvSpPr>
        <p:spPr>
          <a:xfrm>
            <a:off x="4572000" y="4251959"/>
            <a:ext cx="2423160" cy="1051559"/>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The carbon footprint calculator, action guides, and how the site works under the hood</a:t>
            </a:r>
          </a:p>
        </p:txBody>
      </p:sp>
      <p:sp>
        <p:nvSpPr>
          <p:cNvPr id="26" name="Rounded Rectangle 25"/>
          <p:cNvSpPr/>
          <p:nvPr/>
        </p:nvSpPr>
        <p:spPr>
          <a:xfrm>
            <a:off x="7406640" y="3611879"/>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40" y="3611879"/>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80" y="3794759"/>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06  What We Learned &amp; What's Next</a:t>
            </a:r>
          </a:p>
        </p:txBody>
      </p:sp>
      <p:sp>
        <p:nvSpPr>
          <p:cNvPr id="29" name="TextBox 28"/>
          <p:cNvSpPr txBox="1"/>
          <p:nvPr/>
        </p:nvSpPr>
        <p:spPr>
          <a:xfrm>
            <a:off x="7726680" y="4251959"/>
            <a:ext cx="2423160" cy="1051559"/>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Key takeaways from this project and how to get involved</a:t>
            </a:r>
          </a:p>
        </p:txBody>
      </p:sp>
      <p:sp>
        <p:nvSpPr>
          <p:cNvPr id="30" name="TextBox 29"/>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2</a:t>
            </a:r>
          </a:p>
        </p:txBody>
      </p:sp>
    </p:spTree>
  </p:cSld>
  <p:clrMapOvr>
    <a:masterClrMapping/>
  </p:clrMapOvr>
  <p:transition>
    <p:push/>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What Are the SDGs?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A quick background on where they came from and what they're trying to do</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463040"/>
            <a:ext cx="9997135" cy="822960"/>
          </a:xfrm>
          <a:prstGeom prst="rect">
            <a:avLst/>
          </a:prstGeom>
          <a:noFill/>
        </p:spPr>
        <p:txBody>
          <a:bodyPr wrap="square" anchor="t"/>
          <a:lstStyle/>
          <a:p>
            <a:pPr algn="l">
              <a:lnSpc>
                <a:spcPts val="1610"/>
              </a:lnSpc>
              <a:spcAft>
                <a:spcPts val="400"/>
              </a:spcAft>
              <a:defRPr sz="1400" b="0">
                <a:solidFill>
                  <a:srgbClr val="1C1C24"/>
                </a:solidFill>
                <a:latin typeface="Segoe UI" panose="020B0502040204020203"/>
              </a:defRPr>
            </a:pPr>
            <a:r>
              <a:t>The Sustainable Development Goals are 17 interconnected global objectives adopted unanimously by all 193 United Nations Member States in September 2015. They form the core of the 2030 Agenda for Sustainable Development — a shared blueprint for peace and prosperity for people and the planet. The goals balance the three dimensions of sustainable development: economic, social, and environmental.</a:t>
            </a:r>
          </a:p>
        </p:txBody>
      </p:sp>
      <p:sp>
        <p:nvSpPr>
          <p:cNvPr id="7" name="Oval 6"/>
          <p:cNvSpPr/>
          <p:nvPr/>
        </p:nvSpPr>
        <p:spPr>
          <a:xfrm>
            <a:off x="2331720" y="3474720"/>
            <a:ext cx="1097280" cy="109728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800" b="1">
                <a:solidFill>
                  <a:srgbClr val="FFFFFF"/>
                </a:solidFill>
              </a:defRPr>
            </a:pPr>
            <a:r>
              <a:t>2015</a:t>
            </a:r>
          </a:p>
        </p:txBody>
      </p:sp>
      <p:sp>
        <p:nvSpPr>
          <p:cNvPr id="8" name="TextBox 7"/>
          <p:cNvSpPr txBox="1"/>
          <p:nvPr/>
        </p:nvSpPr>
        <p:spPr>
          <a:xfrm>
            <a:off x="1828800" y="4754880"/>
            <a:ext cx="2103120" cy="32004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SDGs Adopted</a:t>
            </a:r>
          </a:p>
        </p:txBody>
      </p:sp>
      <p:sp>
        <p:nvSpPr>
          <p:cNvPr id="9" name="TextBox 8"/>
          <p:cNvSpPr txBox="1"/>
          <p:nvPr/>
        </p:nvSpPr>
        <p:spPr>
          <a:xfrm>
            <a:off x="1828800" y="5074920"/>
            <a:ext cx="2103120" cy="548640"/>
          </a:xfrm>
          <a:prstGeom prst="rect">
            <a:avLst/>
          </a:prstGeom>
          <a:noFill/>
        </p:spPr>
        <p:txBody>
          <a:bodyPr wrap="square" anchor="t"/>
          <a:lstStyle/>
          <a:p>
            <a:pPr algn="ctr">
              <a:lnSpc>
                <a:spcPts val="1265"/>
              </a:lnSpc>
              <a:spcAft>
                <a:spcPts val="400"/>
              </a:spcAft>
              <a:defRPr sz="1100" b="0">
                <a:solidFill>
                  <a:srgbClr val="6B6560"/>
                </a:solidFill>
                <a:latin typeface="Segoe UI" panose="020B0502040204020203"/>
              </a:defRPr>
            </a:pPr>
            <a:r>
              <a:t>193 countries sign</a:t>
            </a:r>
            <a:br/>
            <a:r>
              <a:t>UN General Assembly</a:t>
            </a:r>
          </a:p>
        </p:txBody>
      </p:sp>
      <p:sp>
        <p:nvSpPr>
          <p:cNvPr id="10" name="Oval 9"/>
          <p:cNvSpPr/>
          <p:nvPr/>
        </p:nvSpPr>
        <p:spPr>
          <a:xfrm>
            <a:off x="5532120" y="3474720"/>
            <a:ext cx="1097280" cy="109728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800" b="1">
                <a:solidFill>
                  <a:srgbClr val="FFFFFF"/>
                </a:solidFill>
              </a:defRPr>
            </a:pPr>
            <a:r>
              <a:t>2023</a:t>
            </a:r>
          </a:p>
        </p:txBody>
      </p:sp>
      <p:sp>
        <p:nvSpPr>
          <p:cNvPr id="11" name="TextBox 10"/>
          <p:cNvSpPr txBox="1"/>
          <p:nvPr/>
        </p:nvSpPr>
        <p:spPr>
          <a:xfrm>
            <a:off x="5029200" y="4754880"/>
            <a:ext cx="2103120" cy="32004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Midpoint Review</a:t>
            </a:r>
          </a:p>
        </p:txBody>
      </p:sp>
      <p:sp>
        <p:nvSpPr>
          <p:cNvPr id="12" name="TextBox 11"/>
          <p:cNvSpPr txBox="1"/>
          <p:nvPr/>
        </p:nvSpPr>
        <p:spPr>
          <a:xfrm>
            <a:off x="5029200" y="5074920"/>
            <a:ext cx="2103120" cy="548640"/>
          </a:xfrm>
          <a:prstGeom prst="rect">
            <a:avLst/>
          </a:prstGeom>
          <a:noFill/>
        </p:spPr>
        <p:txBody>
          <a:bodyPr wrap="square" anchor="t"/>
          <a:lstStyle/>
          <a:p>
            <a:pPr algn="ctr">
              <a:lnSpc>
                <a:spcPts val="1265"/>
              </a:lnSpc>
              <a:spcAft>
                <a:spcPts val="400"/>
              </a:spcAft>
              <a:defRPr sz="1100" b="0">
                <a:solidFill>
                  <a:srgbClr val="6B6560"/>
                </a:solidFill>
                <a:latin typeface="Segoe UI" panose="020B0502040204020203"/>
              </a:defRPr>
            </a:pPr>
            <a:r>
              <a:t>Progress at 15%</a:t>
            </a:r>
            <a:br/>
            <a:r>
              <a:t>Off-track on most goals</a:t>
            </a:r>
          </a:p>
        </p:txBody>
      </p:sp>
      <p:sp>
        <p:nvSpPr>
          <p:cNvPr id="13" name="Oval 12"/>
          <p:cNvSpPr/>
          <p:nvPr/>
        </p:nvSpPr>
        <p:spPr>
          <a:xfrm>
            <a:off x="8732520" y="3474720"/>
            <a:ext cx="1097280" cy="109728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800" b="1">
                <a:solidFill>
                  <a:srgbClr val="FFFFFF"/>
                </a:solidFill>
              </a:defRPr>
            </a:pPr>
            <a:r>
              <a:t>2030</a:t>
            </a:r>
          </a:p>
        </p:txBody>
      </p:sp>
      <p:sp>
        <p:nvSpPr>
          <p:cNvPr id="14" name="TextBox 13"/>
          <p:cNvSpPr txBox="1"/>
          <p:nvPr/>
        </p:nvSpPr>
        <p:spPr>
          <a:xfrm>
            <a:off x="8229600" y="4754880"/>
            <a:ext cx="2103120" cy="32004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Target Deadline</a:t>
            </a:r>
          </a:p>
        </p:txBody>
      </p:sp>
      <p:sp>
        <p:nvSpPr>
          <p:cNvPr id="15" name="TextBox 14"/>
          <p:cNvSpPr txBox="1"/>
          <p:nvPr/>
        </p:nvSpPr>
        <p:spPr>
          <a:xfrm>
            <a:off x="8229600" y="5074920"/>
            <a:ext cx="2103120" cy="548640"/>
          </a:xfrm>
          <a:prstGeom prst="rect">
            <a:avLst/>
          </a:prstGeom>
          <a:noFill/>
        </p:spPr>
        <p:txBody>
          <a:bodyPr wrap="square" anchor="t"/>
          <a:lstStyle/>
          <a:p>
            <a:pPr algn="ctr">
              <a:lnSpc>
                <a:spcPts val="1265"/>
              </a:lnSpc>
              <a:spcAft>
                <a:spcPts val="400"/>
              </a:spcAft>
              <a:defRPr sz="1100" b="0">
                <a:solidFill>
                  <a:srgbClr val="6B6560"/>
                </a:solidFill>
                <a:latin typeface="Segoe UI" panose="020B0502040204020203"/>
              </a:defRPr>
            </a:pPr>
            <a:r>
              <a:t>Goals to be achieved</a:t>
            </a:r>
            <a:br/>
            <a:r>
              <a:t>Urgent acceleration needed</a:t>
            </a:r>
          </a:p>
        </p:txBody>
      </p:sp>
      <p:sp>
        <p:nvSpPr>
          <p:cNvPr id="16" name="TextBox 15"/>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3</a:t>
            </a:r>
          </a:p>
        </p:txBody>
      </p:sp>
    </p:spTree>
  </p:cSld>
  <p:clrMapOvr>
    <a:masterClrMapping/>
  </p:clrMapOvr>
  <p:transition>
    <p:fade/>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Key Statistics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The SDGs by the numbers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1810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0987" y="2103120"/>
            <a:ext cx="1783080" cy="1097280"/>
          </a:xfrm>
          <a:prstGeom prst="rect">
            <a:avLst/>
          </a:prstGeom>
          <a:noFill/>
        </p:spPr>
        <p:txBody>
          <a:bodyPr wrap="square" anchor="t"/>
          <a:lstStyle/>
          <a:p>
            <a:pPr algn="ctr">
              <a:lnSpc>
                <a:spcPts val="5060"/>
              </a:lnSpc>
              <a:spcAft>
                <a:spcPts val="400"/>
              </a:spcAft>
              <a:defRPr sz="4400" b="1">
                <a:solidFill>
                  <a:srgbClr val="C48B5C"/>
                </a:solidFill>
                <a:latin typeface="Georgia" panose="02040502050405020303"/>
              </a:defRPr>
            </a:pPr>
            <a:r>
              <a:t>17</a:t>
            </a:r>
          </a:p>
        </p:txBody>
      </p:sp>
      <p:sp>
        <p:nvSpPr>
          <p:cNvPr id="8" name="TextBox 7"/>
          <p:cNvSpPr txBox="1"/>
          <p:nvPr/>
        </p:nvSpPr>
        <p:spPr>
          <a:xfrm>
            <a:off x="1500987" y="3200400"/>
            <a:ext cx="1783080" cy="36576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Global Goals</a:t>
            </a:r>
          </a:p>
        </p:txBody>
      </p:sp>
      <p:sp>
        <p:nvSpPr>
          <p:cNvPr id="9" name="TextBox 8"/>
          <p:cNvSpPr txBox="1"/>
          <p:nvPr/>
        </p:nvSpPr>
        <p:spPr>
          <a:xfrm>
            <a:off x="1500987" y="3611880"/>
            <a:ext cx="1783080" cy="548640"/>
          </a:xfrm>
          <a:prstGeom prst="rect">
            <a:avLst/>
          </a:prstGeom>
          <a:noFill/>
        </p:spPr>
        <p:txBody>
          <a:bodyPr wrap="square" anchor="t"/>
          <a:lstStyle/>
          <a:p>
            <a:pPr algn="ctr">
              <a:lnSpc>
                <a:spcPts val="1265"/>
              </a:lnSpc>
              <a:spcAft>
                <a:spcPts val="400"/>
              </a:spcAft>
              <a:defRPr sz="1100" b="0">
                <a:solidFill>
                  <a:srgbClr val="6B6560"/>
                </a:solidFill>
                <a:latin typeface="Segoe UI" panose="020B0502040204020203"/>
              </a:defRPr>
            </a:pPr>
            <a:r>
              <a:t>Interconnected objectives</a:t>
            </a:r>
          </a:p>
        </p:txBody>
      </p:sp>
      <p:sp>
        <p:nvSpPr>
          <p:cNvPr id="10" name="Rounded Rectangle 9"/>
          <p:cNvSpPr/>
          <p:nvPr/>
        </p:nvSpPr>
        <p:spPr>
          <a:xfrm>
            <a:off x="378698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69867" y="2103120"/>
            <a:ext cx="1783080" cy="1097280"/>
          </a:xfrm>
          <a:prstGeom prst="rect">
            <a:avLst/>
          </a:prstGeom>
          <a:noFill/>
        </p:spPr>
        <p:txBody>
          <a:bodyPr wrap="square" anchor="t"/>
          <a:lstStyle/>
          <a:p>
            <a:pPr algn="ctr">
              <a:lnSpc>
                <a:spcPts val="5060"/>
              </a:lnSpc>
              <a:spcAft>
                <a:spcPts val="400"/>
              </a:spcAft>
              <a:defRPr sz="4400" b="1">
                <a:solidFill>
                  <a:srgbClr val="C48B5C"/>
                </a:solidFill>
                <a:latin typeface="Georgia" panose="02040502050405020303"/>
              </a:defRPr>
            </a:pPr>
            <a:r>
              <a:t>193</a:t>
            </a:r>
          </a:p>
        </p:txBody>
      </p:sp>
      <p:sp>
        <p:nvSpPr>
          <p:cNvPr id="12" name="TextBox 11"/>
          <p:cNvSpPr txBox="1"/>
          <p:nvPr/>
        </p:nvSpPr>
        <p:spPr>
          <a:xfrm>
            <a:off x="3969867" y="3200400"/>
            <a:ext cx="1783080" cy="36576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Member States</a:t>
            </a:r>
          </a:p>
        </p:txBody>
      </p:sp>
      <p:sp>
        <p:nvSpPr>
          <p:cNvPr id="13" name="TextBox 12"/>
          <p:cNvSpPr txBox="1"/>
          <p:nvPr/>
        </p:nvSpPr>
        <p:spPr>
          <a:xfrm>
            <a:off x="3969867" y="3611880"/>
            <a:ext cx="1783080" cy="548640"/>
          </a:xfrm>
          <a:prstGeom prst="rect">
            <a:avLst/>
          </a:prstGeom>
          <a:noFill/>
        </p:spPr>
        <p:txBody>
          <a:bodyPr wrap="square" anchor="t"/>
          <a:lstStyle/>
          <a:p>
            <a:pPr algn="ctr">
              <a:lnSpc>
                <a:spcPts val="1265"/>
              </a:lnSpc>
              <a:spcAft>
                <a:spcPts val="400"/>
              </a:spcAft>
              <a:defRPr sz="1100" b="0">
                <a:solidFill>
                  <a:srgbClr val="6B6560"/>
                </a:solidFill>
                <a:latin typeface="Segoe UI" panose="020B0502040204020203"/>
              </a:defRPr>
            </a:pPr>
            <a:r>
              <a:t>Unanimously adopted in 2015</a:t>
            </a:r>
          </a:p>
        </p:txBody>
      </p:sp>
      <p:sp>
        <p:nvSpPr>
          <p:cNvPr id="14" name="Rounded Rectangle 13"/>
          <p:cNvSpPr/>
          <p:nvPr/>
        </p:nvSpPr>
        <p:spPr>
          <a:xfrm>
            <a:off x="625586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747" y="2103120"/>
            <a:ext cx="1783080" cy="1097280"/>
          </a:xfrm>
          <a:prstGeom prst="rect">
            <a:avLst/>
          </a:prstGeom>
          <a:noFill/>
        </p:spPr>
        <p:txBody>
          <a:bodyPr wrap="square" anchor="t"/>
          <a:lstStyle/>
          <a:p>
            <a:pPr algn="ctr">
              <a:lnSpc>
                <a:spcPts val="5060"/>
              </a:lnSpc>
              <a:spcAft>
                <a:spcPts val="400"/>
              </a:spcAft>
              <a:defRPr sz="4400" b="1">
                <a:solidFill>
                  <a:srgbClr val="C48B5C"/>
                </a:solidFill>
                <a:latin typeface="Georgia" panose="02040502050405020303"/>
              </a:defRPr>
            </a:pPr>
            <a:r>
              <a:t>2030</a:t>
            </a:r>
          </a:p>
        </p:txBody>
      </p:sp>
      <p:sp>
        <p:nvSpPr>
          <p:cNvPr id="16" name="TextBox 15"/>
          <p:cNvSpPr txBox="1"/>
          <p:nvPr/>
        </p:nvSpPr>
        <p:spPr>
          <a:xfrm>
            <a:off x="6438747" y="3200400"/>
            <a:ext cx="1783080" cy="36576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Target Year</a:t>
            </a:r>
          </a:p>
        </p:txBody>
      </p:sp>
      <p:sp>
        <p:nvSpPr>
          <p:cNvPr id="17" name="TextBox 16"/>
          <p:cNvSpPr txBox="1"/>
          <p:nvPr/>
        </p:nvSpPr>
        <p:spPr>
          <a:xfrm>
            <a:off x="6438747" y="3611880"/>
            <a:ext cx="1783080" cy="548640"/>
          </a:xfrm>
          <a:prstGeom prst="rect">
            <a:avLst/>
          </a:prstGeom>
          <a:noFill/>
        </p:spPr>
        <p:txBody>
          <a:bodyPr wrap="square" anchor="t"/>
          <a:lstStyle/>
          <a:p>
            <a:pPr algn="ctr">
              <a:lnSpc>
                <a:spcPts val="1265"/>
              </a:lnSpc>
              <a:spcAft>
                <a:spcPts val="400"/>
              </a:spcAft>
              <a:defRPr sz="1100" b="0">
                <a:solidFill>
                  <a:srgbClr val="6B6560"/>
                </a:solidFill>
                <a:latin typeface="Segoe UI" panose="020B0502040204020203"/>
              </a:defRPr>
            </a:pPr>
            <a:r>
              <a:t>Only 4 years remaining</a:t>
            </a:r>
          </a:p>
        </p:txBody>
      </p:sp>
      <p:sp>
        <p:nvSpPr>
          <p:cNvPr id="18" name="Rounded Rectangle 17"/>
          <p:cNvSpPr/>
          <p:nvPr/>
        </p:nvSpPr>
        <p:spPr>
          <a:xfrm>
            <a:off x="872474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07627" y="2103120"/>
            <a:ext cx="1783080" cy="1097280"/>
          </a:xfrm>
          <a:prstGeom prst="rect">
            <a:avLst/>
          </a:prstGeom>
          <a:noFill/>
        </p:spPr>
        <p:txBody>
          <a:bodyPr wrap="square" anchor="t"/>
          <a:lstStyle/>
          <a:p>
            <a:pPr algn="ctr">
              <a:lnSpc>
                <a:spcPts val="5060"/>
              </a:lnSpc>
              <a:spcAft>
                <a:spcPts val="400"/>
              </a:spcAft>
              <a:defRPr sz="4400" b="1">
                <a:solidFill>
                  <a:srgbClr val="C48B5C"/>
                </a:solidFill>
                <a:latin typeface="Georgia" panose="02040502050405020303"/>
              </a:defRPr>
            </a:pPr>
            <a:r>
              <a:t>169</a:t>
            </a:r>
          </a:p>
        </p:txBody>
      </p:sp>
      <p:sp>
        <p:nvSpPr>
          <p:cNvPr id="20" name="TextBox 19"/>
          <p:cNvSpPr txBox="1"/>
          <p:nvPr/>
        </p:nvSpPr>
        <p:spPr>
          <a:xfrm>
            <a:off x="8907627" y="3200400"/>
            <a:ext cx="1783080" cy="36576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Specific Targets</a:t>
            </a:r>
          </a:p>
        </p:txBody>
      </p:sp>
      <p:sp>
        <p:nvSpPr>
          <p:cNvPr id="21" name="TextBox 20"/>
          <p:cNvSpPr txBox="1"/>
          <p:nvPr/>
        </p:nvSpPr>
        <p:spPr>
          <a:xfrm>
            <a:off x="8907627" y="3611880"/>
            <a:ext cx="1783080" cy="548640"/>
          </a:xfrm>
          <a:prstGeom prst="rect">
            <a:avLst/>
          </a:prstGeom>
          <a:noFill/>
        </p:spPr>
        <p:txBody>
          <a:bodyPr wrap="square" anchor="t"/>
          <a:lstStyle/>
          <a:p>
            <a:pPr algn="ctr">
              <a:lnSpc>
                <a:spcPts val="1265"/>
              </a:lnSpc>
              <a:spcAft>
                <a:spcPts val="400"/>
              </a:spcAft>
              <a:defRPr sz="1100" b="0">
                <a:solidFill>
                  <a:srgbClr val="6B6560"/>
                </a:solidFill>
                <a:latin typeface="Segoe UI" panose="020B0502040204020203"/>
              </a:defRPr>
            </a:pPr>
            <a:r>
              <a:t>Measured by 232 indicators</a:t>
            </a:r>
          </a:p>
        </p:txBody>
      </p:sp>
      <p:sp>
        <p:nvSpPr>
          <p:cNvPr id="22" name="TextBox 21"/>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4</a:t>
            </a:r>
          </a:p>
        </p:txBody>
      </p:sp>
    </p:spTree>
  </p:cSld>
  <p:clrMapOvr>
    <a:masterClrMapping/>
  </p:clrMapOvr>
  <p:transition>
    <p:fad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Why the SDGs Exist</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Three reasons the old approach wasn't working</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49527" y="1737360"/>
            <a:ext cx="3017520" cy="36576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49527" y="1737360"/>
            <a:ext cx="54864" cy="36576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9567" y="1920240"/>
            <a:ext cx="25146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The Problems Don't Stop at Borders</a:t>
            </a:r>
          </a:p>
        </p:txBody>
      </p:sp>
      <p:sp>
        <p:nvSpPr>
          <p:cNvPr id="9" name="TextBox 8"/>
          <p:cNvSpPr txBox="1"/>
          <p:nvPr/>
        </p:nvSpPr>
        <p:spPr>
          <a:xfrm>
            <a:off x="1569567" y="2377440"/>
            <a:ext cx="2514600" cy="283464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Temperatures are up about 1.1°C since the Industrial Revolution. Over 700 million people still live on less than $2.15 a day. Species are going extinct at rates not seen in millions of years. These aren't separate issues — they feed into each other, and no country can fix them by acting alone.</a:t>
            </a:r>
          </a:p>
        </p:txBody>
      </p:sp>
      <p:sp>
        <p:nvSpPr>
          <p:cNvPr id="10" name="Rounded Rectangle 9"/>
          <p:cNvSpPr/>
          <p:nvPr/>
        </p:nvSpPr>
        <p:spPr>
          <a:xfrm>
            <a:off x="4587087" y="1737360"/>
            <a:ext cx="3017520" cy="36576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87087" y="1737360"/>
            <a:ext cx="54864" cy="36576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07127" y="1920240"/>
            <a:ext cx="25146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A Framework That Connects the Dots</a:t>
            </a:r>
          </a:p>
        </p:txBody>
      </p:sp>
      <p:sp>
        <p:nvSpPr>
          <p:cNvPr id="13" name="TextBox 12"/>
          <p:cNvSpPr txBox="1"/>
          <p:nvPr/>
        </p:nvSpPr>
        <p:spPr>
          <a:xfrm>
            <a:off x="4907127" y="2377440"/>
            <a:ext cx="2514600" cy="283464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Before the SDGs, development goals tended to be siloed — health over here, environment over there. The 2030 Agenda explicitly links economic, social, and environmental dimensions. The idea is simple: you can't lift people out of poverty while destroying the ecosystems they depend on.</a:t>
            </a:r>
          </a:p>
        </p:txBody>
      </p:sp>
      <p:sp>
        <p:nvSpPr>
          <p:cNvPr id="14" name="Rounded Rectangle 13"/>
          <p:cNvSpPr/>
          <p:nvPr/>
        </p:nvSpPr>
        <p:spPr>
          <a:xfrm>
            <a:off x="7924647" y="1737360"/>
            <a:ext cx="3017520" cy="36576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24647" y="1737360"/>
            <a:ext cx="54864" cy="36576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4687" y="1920240"/>
            <a:ext cx="25146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Measurable, Not Just Nice Words</a:t>
            </a:r>
          </a:p>
        </p:txBody>
      </p:sp>
      <p:sp>
        <p:nvSpPr>
          <p:cNvPr id="17" name="TextBox 16"/>
          <p:cNvSpPr txBox="1"/>
          <p:nvPr/>
        </p:nvSpPr>
        <p:spPr>
          <a:xfrm>
            <a:off x="8244687" y="2377440"/>
            <a:ext cx="2514600" cy="283464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Unlike many international agreements, the SDGs come with teeth — 169 specific targets and 232 indicators that can be tracked. The 'Leave No One Behind' principle means looking past national averages to see who's being excluded: women, children, people with disabilities, and the extreme poor.</a:t>
            </a:r>
          </a:p>
        </p:txBody>
      </p:sp>
      <p:sp>
        <p:nvSpPr>
          <p:cNvPr id="18" name="TextBox 17"/>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5</a:t>
            </a:r>
          </a:p>
        </p:txBody>
      </p:sp>
    </p:spTree>
  </p:cSld>
  <p:clrMapOvr>
    <a:masterClrMapping/>
  </p:clrMapOvr>
  <p:transition>
    <p:fade/>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The 17 Sustainable Development Goals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From ending poverty to protecting the oceans — all 17 goals at a glance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54480"/>
            <a:ext cx="1417320" cy="1097280"/>
          </a:xfrm>
          <a:prstGeom prst="roundRect">
            <a:avLst/>
          </a:prstGeom>
          <a:solidFill>
            <a:srgbClr val="E5243B"/>
          </a:solidFill>
          <a:ln w="12700">
            <a:solidFill>
              <a:srgbClr val="E524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627632"/>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01</a:t>
            </a:r>
          </a:p>
        </p:txBody>
      </p:sp>
      <p:sp>
        <p:nvSpPr>
          <p:cNvPr id="8" name="TextBox 7"/>
          <p:cNvSpPr txBox="1"/>
          <p:nvPr/>
        </p:nvSpPr>
        <p:spPr>
          <a:xfrm>
            <a:off x="1188720" y="1938528"/>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No Poverty</a:t>
            </a:r>
          </a:p>
        </p:txBody>
      </p:sp>
      <p:sp>
        <p:nvSpPr>
          <p:cNvPr id="9" name="Rounded Rectangle 8"/>
          <p:cNvSpPr/>
          <p:nvPr/>
        </p:nvSpPr>
        <p:spPr>
          <a:xfrm>
            <a:off x="2651760" y="1554480"/>
            <a:ext cx="1417320" cy="1097280"/>
          </a:xfrm>
          <a:prstGeom prst="roundRect">
            <a:avLst/>
          </a:prstGeom>
          <a:solidFill>
            <a:srgbClr val="DDA63A"/>
          </a:solidFill>
          <a:ln w="12700">
            <a:solidFill>
              <a:srgbClr val="DDA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1627632"/>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02</a:t>
            </a:r>
          </a:p>
        </p:txBody>
      </p:sp>
      <p:sp>
        <p:nvSpPr>
          <p:cNvPr id="11" name="TextBox 10"/>
          <p:cNvSpPr txBox="1"/>
          <p:nvPr/>
        </p:nvSpPr>
        <p:spPr>
          <a:xfrm>
            <a:off x="2743200" y="1938528"/>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Zero Hunger</a:t>
            </a:r>
          </a:p>
        </p:txBody>
      </p:sp>
      <p:sp>
        <p:nvSpPr>
          <p:cNvPr id="12" name="Rounded Rectangle 11"/>
          <p:cNvSpPr/>
          <p:nvPr/>
        </p:nvSpPr>
        <p:spPr>
          <a:xfrm>
            <a:off x="4206240" y="1554480"/>
            <a:ext cx="1417320" cy="1097280"/>
          </a:xfrm>
          <a:prstGeom prst="roundRect">
            <a:avLst/>
          </a:prstGeom>
          <a:solidFill>
            <a:srgbClr val="4C9F38"/>
          </a:solidFill>
          <a:ln w="12700">
            <a:solidFill>
              <a:srgbClr val="4C9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627632"/>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03</a:t>
            </a:r>
          </a:p>
        </p:txBody>
      </p:sp>
      <p:sp>
        <p:nvSpPr>
          <p:cNvPr id="14" name="TextBox 13"/>
          <p:cNvSpPr txBox="1"/>
          <p:nvPr/>
        </p:nvSpPr>
        <p:spPr>
          <a:xfrm>
            <a:off x="4297680" y="1938528"/>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Good Health &amp; Well-being</a:t>
            </a:r>
          </a:p>
        </p:txBody>
      </p:sp>
      <p:sp>
        <p:nvSpPr>
          <p:cNvPr id="15" name="Rounded Rectangle 14"/>
          <p:cNvSpPr/>
          <p:nvPr/>
        </p:nvSpPr>
        <p:spPr>
          <a:xfrm>
            <a:off x="5760720" y="1554480"/>
            <a:ext cx="1417320" cy="1097280"/>
          </a:xfrm>
          <a:prstGeom prst="roundRect">
            <a:avLst/>
          </a:prstGeom>
          <a:solidFill>
            <a:srgbClr val="C5192D"/>
          </a:solidFill>
          <a:ln w="12700">
            <a:solidFill>
              <a:srgbClr val="C51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0" y="1627632"/>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04</a:t>
            </a:r>
          </a:p>
        </p:txBody>
      </p:sp>
      <p:sp>
        <p:nvSpPr>
          <p:cNvPr id="17" name="TextBox 16"/>
          <p:cNvSpPr txBox="1"/>
          <p:nvPr/>
        </p:nvSpPr>
        <p:spPr>
          <a:xfrm>
            <a:off x="5852160" y="1938528"/>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Quality Education</a:t>
            </a:r>
          </a:p>
        </p:txBody>
      </p:sp>
      <p:sp>
        <p:nvSpPr>
          <p:cNvPr id="18" name="Rounded Rectangle 17"/>
          <p:cNvSpPr/>
          <p:nvPr/>
        </p:nvSpPr>
        <p:spPr>
          <a:xfrm>
            <a:off x="7315200" y="1554480"/>
            <a:ext cx="1417320" cy="1097280"/>
          </a:xfrm>
          <a:prstGeom prst="roundRect">
            <a:avLst/>
          </a:prstGeom>
          <a:solidFill>
            <a:srgbClr val="FF3A21"/>
          </a:solidFill>
          <a:ln w="12700">
            <a:solidFill>
              <a:srgbClr val="FF3A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1627632"/>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05</a:t>
            </a:r>
          </a:p>
        </p:txBody>
      </p:sp>
      <p:sp>
        <p:nvSpPr>
          <p:cNvPr id="20" name="TextBox 19"/>
          <p:cNvSpPr txBox="1"/>
          <p:nvPr/>
        </p:nvSpPr>
        <p:spPr>
          <a:xfrm>
            <a:off x="7406640" y="1938528"/>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Gender Equality</a:t>
            </a:r>
          </a:p>
        </p:txBody>
      </p:sp>
      <p:sp>
        <p:nvSpPr>
          <p:cNvPr id="21" name="Rounded Rectangle 20"/>
          <p:cNvSpPr/>
          <p:nvPr/>
        </p:nvSpPr>
        <p:spPr>
          <a:xfrm>
            <a:off x="8869680" y="1554480"/>
            <a:ext cx="1417320" cy="1097280"/>
          </a:xfrm>
          <a:prstGeom prst="roundRect">
            <a:avLst/>
          </a:prstGeom>
          <a:solidFill>
            <a:srgbClr val="26BDE2"/>
          </a:solidFill>
          <a:ln w="12700">
            <a:solidFill>
              <a:srgbClr val="26B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0" y="1627632"/>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06</a:t>
            </a:r>
          </a:p>
        </p:txBody>
      </p:sp>
      <p:sp>
        <p:nvSpPr>
          <p:cNvPr id="23" name="TextBox 22"/>
          <p:cNvSpPr txBox="1"/>
          <p:nvPr/>
        </p:nvSpPr>
        <p:spPr>
          <a:xfrm>
            <a:off x="8961120" y="1938528"/>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Clean Water &amp; Sanitation</a:t>
            </a:r>
          </a:p>
        </p:txBody>
      </p:sp>
      <p:sp>
        <p:nvSpPr>
          <p:cNvPr id="24" name="Rounded Rectangle 23"/>
          <p:cNvSpPr/>
          <p:nvPr/>
        </p:nvSpPr>
        <p:spPr>
          <a:xfrm>
            <a:off x="1097280" y="2761488"/>
            <a:ext cx="1417320" cy="1097280"/>
          </a:xfrm>
          <a:prstGeom prst="roundRect">
            <a:avLst/>
          </a:prstGeom>
          <a:solidFill>
            <a:srgbClr val="FCC30B"/>
          </a:solidFill>
          <a:ln w="12700">
            <a:solidFill>
              <a:srgbClr val="FCC3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2834640"/>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07</a:t>
            </a:r>
          </a:p>
        </p:txBody>
      </p:sp>
      <p:sp>
        <p:nvSpPr>
          <p:cNvPr id="26" name="TextBox 25"/>
          <p:cNvSpPr txBox="1"/>
          <p:nvPr/>
        </p:nvSpPr>
        <p:spPr>
          <a:xfrm>
            <a:off x="1188720" y="3145536"/>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Clean Energy</a:t>
            </a:r>
          </a:p>
        </p:txBody>
      </p:sp>
      <p:sp>
        <p:nvSpPr>
          <p:cNvPr id="27" name="Rounded Rectangle 26"/>
          <p:cNvSpPr/>
          <p:nvPr/>
        </p:nvSpPr>
        <p:spPr>
          <a:xfrm>
            <a:off x="2651760" y="2761488"/>
            <a:ext cx="1417320" cy="1097280"/>
          </a:xfrm>
          <a:prstGeom prst="roundRect">
            <a:avLst/>
          </a:prstGeom>
          <a:solidFill>
            <a:srgbClr val="A21942"/>
          </a:solidFill>
          <a:ln w="12700">
            <a:solidFill>
              <a:srgbClr val="A21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2834640"/>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08</a:t>
            </a:r>
          </a:p>
        </p:txBody>
      </p:sp>
      <p:sp>
        <p:nvSpPr>
          <p:cNvPr id="29" name="TextBox 28"/>
          <p:cNvSpPr txBox="1"/>
          <p:nvPr/>
        </p:nvSpPr>
        <p:spPr>
          <a:xfrm>
            <a:off x="2743200" y="3145536"/>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Decent Work &amp; Economic Growth</a:t>
            </a:r>
          </a:p>
        </p:txBody>
      </p:sp>
      <p:sp>
        <p:nvSpPr>
          <p:cNvPr id="30" name="Rounded Rectangle 29"/>
          <p:cNvSpPr/>
          <p:nvPr/>
        </p:nvSpPr>
        <p:spPr>
          <a:xfrm>
            <a:off x="4206240" y="2761488"/>
            <a:ext cx="1417320" cy="1097280"/>
          </a:xfrm>
          <a:prstGeom prst="roundRect">
            <a:avLst/>
          </a:prstGeom>
          <a:solidFill>
            <a:srgbClr val="FD6925"/>
          </a:solidFill>
          <a:ln w="12700">
            <a:solidFill>
              <a:srgbClr val="FD6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7680" y="2834640"/>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09</a:t>
            </a:r>
          </a:p>
        </p:txBody>
      </p:sp>
      <p:sp>
        <p:nvSpPr>
          <p:cNvPr id="32" name="TextBox 31"/>
          <p:cNvSpPr txBox="1"/>
          <p:nvPr/>
        </p:nvSpPr>
        <p:spPr>
          <a:xfrm>
            <a:off x="4297680" y="3145536"/>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Industry, Innovation &amp; Infrastructure</a:t>
            </a:r>
          </a:p>
        </p:txBody>
      </p:sp>
      <p:sp>
        <p:nvSpPr>
          <p:cNvPr id="33" name="Rounded Rectangle 32"/>
          <p:cNvSpPr/>
          <p:nvPr/>
        </p:nvSpPr>
        <p:spPr>
          <a:xfrm>
            <a:off x="5760720" y="2761488"/>
            <a:ext cx="1417320" cy="1097280"/>
          </a:xfrm>
          <a:prstGeom prst="roundRect">
            <a:avLst/>
          </a:prstGeom>
          <a:solidFill>
            <a:srgbClr val="DD1367"/>
          </a:solidFill>
          <a:ln w="12700">
            <a:solidFill>
              <a:srgbClr val="DD13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52160" y="2834640"/>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10</a:t>
            </a:r>
          </a:p>
        </p:txBody>
      </p:sp>
      <p:sp>
        <p:nvSpPr>
          <p:cNvPr id="35" name="TextBox 34"/>
          <p:cNvSpPr txBox="1"/>
          <p:nvPr/>
        </p:nvSpPr>
        <p:spPr>
          <a:xfrm>
            <a:off x="5852160" y="3145536"/>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Reduced Inequalities</a:t>
            </a:r>
          </a:p>
        </p:txBody>
      </p:sp>
      <p:sp>
        <p:nvSpPr>
          <p:cNvPr id="36" name="Rounded Rectangle 35"/>
          <p:cNvSpPr/>
          <p:nvPr/>
        </p:nvSpPr>
        <p:spPr>
          <a:xfrm>
            <a:off x="7315200" y="2761488"/>
            <a:ext cx="1417320" cy="1097280"/>
          </a:xfrm>
          <a:prstGeom prst="roundRect">
            <a:avLst/>
          </a:prstGeom>
          <a:solidFill>
            <a:srgbClr val="FD9D24"/>
          </a:solidFill>
          <a:ln w="12700">
            <a:solidFill>
              <a:srgbClr val="FD9D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0" y="2834640"/>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11</a:t>
            </a:r>
          </a:p>
        </p:txBody>
      </p:sp>
      <p:sp>
        <p:nvSpPr>
          <p:cNvPr id="38" name="TextBox 37"/>
          <p:cNvSpPr txBox="1"/>
          <p:nvPr/>
        </p:nvSpPr>
        <p:spPr>
          <a:xfrm>
            <a:off x="7406640" y="3145536"/>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Sustainable Cities &amp; Communities</a:t>
            </a:r>
          </a:p>
        </p:txBody>
      </p:sp>
      <p:sp>
        <p:nvSpPr>
          <p:cNvPr id="39" name="Rounded Rectangle 38"/>
          <p:cNvSpPr/>
          <p:nvPr/>
        </p:nvSpPr>
        <p:spPr>
          <a:xfrm>
            <a:off x="8869680" y="2761488"/>
            <a:ext cx="1417320" cy="1097280"/>
          </a:xfrm>
          <a:prstGeom prst="roundRect">
            <a:avLst/>
          </a:prstGeom>
          <a:solidFill>
            <a:srgbClr val="BF8B2E"/>
          </a:solidFill>
          <a:ln w="12700">
            <a:solidFill>
              <a:srgbClr val="BF8B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0" y="2834640"/>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12</a:t>
            </a:r>
          </a:p>
        </p:txBody>
      </p:sp>
      <p:sp>
        <p:nvSpPr>
          <p:cNvPr id="41" name="TextBox 40"/>
          <p:cNvSpPr txBox="1"/>
          <p:nvPr/>
        </p:nvSpPr>
        <p:spPr>
          <a:xfrm>
            <a:off x="8961120" y="3145536"/>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Responsible Consumption &amp; Production</a:t>
            </a:r>
          </a:p>
        </p:txBody>
      </p:sp>
      <p:sp>
        <p:nvSpPr>
          <p:cNvPr id="42" name="Rounded Rectangle 41"/>
          <p:cNvSpPr/>
          <p:nvPr/>
        </p:nvSpPr>
        <p:spPr>
          <a:xfrm>
            <a:off x="1097280" y="3968496"/>
            <a:ext cx="1417320" cy="1097280"/>
          </a:xfrm>
          <a:prstGeom prst="roundRect">
            <a:avLst/>
          </a:prstGeom>
          <a:solidFill>
            <a:srgbClr val="3F7E44"/>
          </a:solidFill>
          <a:ln w="12700">
            <a:solidFill>
              <a:srgbClr val="3F7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88720" y="4041648"/>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13</a:t>
            </a:r>
          </a:p>
        </p:txBody>
      </p:sp>
      <p:sp>
        <p:nvSpPr>
          <p:cNvPr id="44" name="TextBox 43"/>
          <p:cNvSpPr txBox="1"/>
          <p:nvPr/>
        </p:nvSpPr>
        <p:spPr>
          <a:xfrm>
            <a:off x="1188720" y="4352544"/>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Climate Action</a:t>
            </a:r>
          </a:p>
        </p:txBody>
      </p:sp>
      <p:sp>
        <p:nvSpPr>
          <p:cNvPr id="45" name="Rounded Rectangle 44"/>
          <p:cNvSpPr/>
          <p:nvPr/>
        </p:nvSpPr>
        <p:spPr>
          <a:xfrm>
            <a:off x="2651760" y="3968496"/>
            <a:ext cx="1417320" cy="1097280"/>
          </a:xfrm>
          <a:prstGeom prst="roundRect">
            <a:avLst/>
          </a:prstGeom>
          <a:solidFill>
            <a:srgbClr val="009444"/>
          </a:solidFill>
          <a:ln w="12700">
            <a:solidFill>
              <a:srgbClr val="009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43200" y="4041648"/>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14</a:t>
            </a:r>
          </a:p>
        </p:txBody>
      </p:sp>
      <p:sp>
        <p:nvSpPr>
          <p:cNvPr id="47" name="TextBox 46"/>
          <p:cNvSpPr txBox="1"/>
          <p:nvPr/>
        </p:nvSpPr>
        <p:spPr>
          <a:xfrm>
            <a:off x="2743200" y="4352544"/>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Life Below Water</a:t>
            </a:r>
          </a:p>
        </p:txBody>
      </p:sp>
      <p:sp>
        <p:nvSpPr>
          <p:cNvPr id="48" name="Rounded Rectangle 47"/>
          <p:cNvSpPr/>
          <p:nvPr/>
        </p:nvSpPr>
        <p:spPr>
          <a:xfrm>
            <a:off x="4206240" y="3968496"/>
            <a:ext cx="1417320" cy="1097280"/>
          </a:xfrm>
          <a:prstGeom prst="roundRect">
            <a:avLst/>
          </a:prstGeom>
          <a:solidFill>
            <a:srgbClr val="00A651"/>
          </a:solidFill>
          <a:ln w="12700">
            <a:solidFill>
              <a:srgbClr val="00A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97680" y="4041648"/>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15</a:t>
            </a:r>
          </a:p>
        </p:txBody>
      </p:sp>
      <p:sp>
        <p:nvSpPr>
          <p:cNvPr id="50" name="TextBox 49"/>
          <p:cNvSpPr txBox="1"/>
          <p:nvPr/>
        </p:nvSpPr>
        <p:spPr>
          <a:xfrm>
            <a:off x="4297680" y="4352544"/>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Life on Land</a:t>
            </a:r>
          </a:p>
        </p:txBody>
      </p:sp>
      <p:sp>
        <p:nvSpPr>
          <p:cNvPr id="51" name="Rounded Rectangle 50"/>
          <p:cNvSpPr/>
          <p:nvPr/>
        </p:nvSpPr>
        <p:spPr>
          <a:xfrm>
            <a:off x="5760720" y="3968496"/>
            <a:ext cx="1417320" cy="1097280"/>
          </a:xfrm>
          <a:prstGeom prst="roundRect">
            <a:avLst/>
          </a:prstGeom>
          <a:solidFill>
            <a:srgbClr val="19489D"/>
          </a:solidFill>
          <a:ln w="12700">
            <a:solidFill>
              <a:srgbClr val="1948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852160" y="4041648"/>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16</a:t>
            </a:r>
          </a:p>
        </p:txBody>
      </p:sp>
      <p:sp>
        <p:nvSpPr>
          <p:cNvPr id="53" name="TextBox 52"/>
          <p:cNvSpPr txBox="1"/>
          <p:nvPr/>
        </p:nvSpPr>
        <p:spPr>
          <a:xfrm>
            <a:off x="5852160" y="4352544"/>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Peace, Justice &amp; Strong Institutions</a:t>
            </a:r>
          </a:p>
        </p:txBody>
      </p:sp>
      <p:sp>
        <p:nvSpPr>
          <p:cNvPr id="54" name="Rounded Rectangle 53"/>
          <p:cNvSpPr/>
          <p:nvPr/>
        </p:nvSpPr>
        <p:spPr>
          <a:xfrm>
            <a:off x="7315200" y="3968496"/>
            <a:ext cx="1417320" cy="1097280"/>
          </a:xfrm>
          <a:prstGeom prst="roundRect">
            <a:avLst/>
          </a:prstGeom>
          <a:solidFill>
            <a:srgbClr val="192841"/>
          </a:solidFill>
          <a:ln w="12700">
            <a:solidFill>
              <a:srgbClr val="1928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0" y="4041648"/>
            <a:ext cx="365760" cy="274320"/>
          </a:xfrm>
          <a:prstGeom prst="rect">
            <a:avLst/>
          </a:prstGeom>
          <a:noFill/>
        </p:spPr>
        <p:txBody>
          <a:bodyPr wrap="square" anchor="t"/>
          <a:lstStyle/>
          <a:p>
            <a:pPr algn="l">
              <a:lnSpc>
                <a:spcPts val="1380"/>
              </a:lnSpc>
              <a:spcAft>
                <a:spcPts val="400"/>
              </a:spcAft>
              <a:defRPr sz="1200" b="1">
                <a:solidFill>
                  <a:srgbClr val="FFFFFF"/>
                </a:solidFill>
                <a:latin typeface="Georgia" panose="02040502050405020303"/>
              </a:defRPr>
            </a:pPr>
            <a:r>
              <a:t>17</a:t>
            </a:r>
          </a:p>
        </p:txBody>
      </p:sp>
      <p:sp>
        <p:nvSpPr>
          <p:cNvPr id="56" name="TextBox 55"/>
          <p:cNvSpPr txBox="1"/>
          <p:nvPr/>
        </p:nvSpPr>
        <p:spPr>
          <a:xfrm>
            <a:off x="7406640" y="4352544"/>
            <a:ext cx="1234440" cy="502920"/>
          </a:xfrm>
          <a:prstGeom prst="rect">
            <a:avLst/>
          </a:prstGeom>
          <a:noFill/>
        </p:spPr>
        <p:txBody>
          <a:bodyPr wrap="square" anchor="t"/>
          <a:lstStyle/>
          <a:p>
            <a:pPr algn="l">
              <a:lnSpc>
                <a:spcPts val="920"/>
              </a:lnSpc>
              <a:spcAft>
                <a:spcPts val="400"/>
              </a:spcAft>
              <a:defRPr sz="800" b="0">
                <a:solidFill>
                  <a:srgbClr val="FFFFFF"/>
                </a:solidFill>
                <a:latin typeface="Segoe UI" panose="020B0502040204020203"/>
              </a:defRPr>
            </a:pPr>
            <a:r>
              <a:t>Partnerships for the Goals</a:t>
            </a:r>
          </a:p>
        </p:txBody>
      </p:sp>
      <p:sp>
        <p:nvSpPr>
          <p:cNvPr id="57" name="TextBox 56"/>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6</a:t>
            </a:r>
          </a:p>
        </p:txBody>
      </p:sp>
    </p:spTree>
  </p:cSld>
  <p:clrMapOvr>
    <a:masterClrMapping/>
  </p:clrMapOvr>
  <p:transition>
    <p:push/>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Goals Grouped — The 5P Framework</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The 17 goals organized into five clusters — the UN calls this the 5P framework</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panose="02040502050405020303"/>
              </a:defRPr>
            </a:pPr>
            <a:r>
              <a:t>People</a:t>
            </a:r>
          </a:p>
        </p:txBody>
      </p:sp>
      <p:sp>
        <p:nvSpPr>
          <p:cNvPr id="8" name="TextBox 7"/>
          <p:cNvSpPr txBox="1"/>
          <p:nvPr/>
        </p:nvSpPr>
        <p:spPr>
          <a:xfrm>
            <a:off x="1371600" y="2057400"/>
            <a:ext cx="4069080" cy="36576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End poverty and hunger in all forms, and ensure dignity and equality for every human being</a:t>
            </a:r>
          </a:p>
        </p:txBody>
      </p:sp>
      <p:sp>
        <p:nvSpPr>
          <p:cNvPr id="9" name="TextBox 8"/>
          <p:cNvSpPr txBox="1"/>
          <p:nvPr/>
        </p:nvSpPr>
        <p:spPr>
          <a:xfrm>
            <a:off x="1371600" y="2606040"/>
            <a:ext cx="4069080" cy="822960"/>
          </a:xfrm>
          <a:prstGeom prst="rect">
            <a:avLst/>
          </a:prstGeom>
          <a:noFill/>
        </p:spPr>
        <p:txBody>
          <a:bodyPr wrap="square" anchor="t"/>
          <a:lstStyle/>
          <a:p>
            <a:pPr algn="l">
              <a:lnSpc>
                <a:spcPts val="1035"/>
              </a:lnSpc>
              <a:spcAft>
                <a:spcPts val="400"/>
              </a:spcAft>
              <a:defRPr sz="900" b="0">
                <a:solidFill>
                  <a:srgbClr val="1C1C24"/>
                </a:solidFill>
                <a:latin typeface="Segoe UI" panose="020B0502040204020203"/>
              </a:defRPr>
            </a:pPr>
            <a:r>
              <a:t>No Poverty · Zero Hunger · Good Health &amp; Well-being · Quality Education · Gender Equality</a:t>
            </a:r>
          </a:p>
        </p:txBody>
      </p:sp>
      <p:sp>
        <p:nvSpPr>
          <p:cNvPr id="10" name="Rounded Rectangle 9"/>
          <p:cNvSpPr/>
          <p:nvPr/>
        </p:nvSpPr>
        <p:spPr>
          <a:xfrm>
            <a:off x="603504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panose="02040502050405020303"/>
              </a:defRPr>
            </a:pPr>
            <a:r>
              <a:t>Planet</a:t>
            </a:r>
          </a:p>
        </p:txBody>
      </p:sp>
      <p:sp>
        <p:nvSpPr>
          <p:cNvPr id="12" name="TextBox 11"/>
          <p:cNvSpPr txBox="1"/>
          <p:nvPr/>
        </p:nvSpPr>
        <p:spPr>
          <a:xfrm>
            <a:off x="6309360" y="2057400"/>
            <a:ext cx="4069080" cy="36576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Protect Earth's natural resources and climate to sustain future generations</a:t>
            </a:r>
          </a:p>
        </p:txBody>
      </p:sp>
      <p:sp>
        <p:nvSpPr>
          <p:cNvPr id="13" name="TextBox 12"/>
          <p:cNvSpPr txBox="1"/>
          <p:nvPr/>
        </p:nvSpPr>
        <p:spPr>
          <a:xfrm>
            <a:off x="6309360" y="2606040"/>
            <a:ext cx="4069080" cy="822960"/>
          </a:xfrm>
          <a:prstGeom prst="rect">
            <a:avLst/>
          </a:prstGeom>
          <a:noFill/>
        </p:spPr>
        <p:txBody>
          <a:bodyPr wrap="square" anchor="t"/>
          <a:lstStyle/>
          <a:p>
            <a:pPr algn="l">
              <a:lnSpc>
                <a:spcPts val="1035"/>
              </a:lnSpc>
              <a:spcAft>
                <a:spcPts val="400"/>
              </a:spcAft>
              <a:defRPr sz="900" b="0">
                <a:solidFill>
                  <a:srgbClr val="1C1C24"/>
                </a:solidFill>
                <a:latin typeface="Segoe UI" panose="020B0502040204020203"/>
              </a:defRPr>
            </a:pPr>
            <a:r>
              <a:t>Clean Water &amp; Sanitation · Responsible Consumption &amp; Production · Climate Action · Life Below Water · Life on Land</a:t>
            </a:r>
          </a:p>
        </p:txBody>
      </p:sp>
      <p:sp>
        <p:nvSpPr>
          <p:cNvPr id="14" name="TextBox 13"/>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7</a:t>
            </a:r>
          </a:p>
        </p:txBody>
      </p:sp>
    </p:spTree>
  </p:cSld>
  <p:clrMapOvr>
    <a:masterClrMapping/>
  </p:clrMapOvr>
  <p:transition>
    <p:fade/>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Goals Grouped — Prosperity, Peace &amp; Partnership</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The remaining groups: prosperity, peace, and the partnerships that make it all possible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panose="02040502050405020303"/>
              </a:defRPr>
            </a:pPr>
            <a:r>
              <a:t>Prosperity</a:t>
            </a:r>
          </a:p>
        </p:txBody>
      </p:sp>
      <p:sp>
        <p:nvSpPr>
          <p:cNvPr id="8" name="TextBox 7"/>
          <p:cNvSpPr txBox="1"/>
          <p:nvPr/>
        </p:nvSpPr>
        <p:spPr>
          <a:xfrm>
            <a:off x="1371600" y="2057400"/>
            <a:ext cx="4069080" cy="36576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Ensure all human beings can enjoy prosperous and fulfilling lives in harmony with nature</a:t>
            </a:r>
          </a:p>
        </p:txBody>
      </p:sp>
      <p:sp>
        <p:nvSpPr>
          <p:cNvPr id="9" name="TextBox 8"/>
          <p:cNvSpPr txBox="1"/>
          <p:nvPr/>
        </p:nvSpPr>
        <p:spPr>
          <a:xfrm>
            <a:off x="1371600" y="2606040"/>
            <a:ext cx="4069080" cy="822960"/>
          </a:xfrm>
          <a:prstGeom prst="rect">
            <a:avLst/>
          </a:prstGeom>
          <a:noFill/>
        </p:spPr>
        <p:txBody>
          <a:bodyPr wrap="square" anchor="t"/>
          <a:lstStyle/>
          <a:p>
            <a:pPr algn="l">
              <a:lnSpc>
                <a:spcPts val="1035"/>
              </a:lnSpc>
              <a:spcAft>
                <a:spcPts val="400"/>
              </a:spcAft>
              <a:defRPr sz="900" b="0">
                <a:solidFill>
                  <a:srgbClr val="1C1C24"/>
                </a:solidFill>
                <a:latin typeface="Segoe UI" panose="020B0502040204020203"/>
              </a:defRPr>
            </a:pPr>
            <a:r>
              <a:t>Clean Energy · Decent Work &amp; Economic Growth · Industry, Innovation &amp; Infrastructure · Reduced Inequalities · Sustainable Cities &amp; Communities</a:t>
            </a:r>
          </a:p>
        </p:txBody>
      </p:sp>
      <p:sp>
        <p:nvSpPr>
          <p:cNvPr id="10" name="Rounded Rectangle 9"/>
          <p:cNvSpPr/>
          <p:nvPr/>
        </p:nvSpPr>
        <p:spPr>
          <a:xfrm>
            <a:off x="603504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panose="02040502050405020303"/>
              </a:defRPr>
            </a:pPr>
            <a:r>
              <a:t>Peace</a:t>
            </a:r>
          </a:p>
        </p:txBody>
      </p:sp>
      <p:sp>
        <p:nvSpPr>
          <p:cNvPr id="12" name="TextBox 11"/>
          <p:cNvSpPr txBox="1"/>
          <p:nvPr/>
        </p:nvSpPr>
        <p:spPr>
          <a:xfrm>
            <a:off x="6309360" y="2057400"/>
            <a:ext cx="4069080" cy="36576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Foster peaceful, just, and inclusive societies free from fear and violence</a:t>
            </a:r>
          </a:p>
        </p:txBody>
      </p:sp>
      <p:sp>
        <p:nvSpPr>
          <p:cNvPr id="13" name="TextBox 12"/>
          <p:cNvSpPr txBox="1"/>
          <p:nvPr/>
        </p:nvSpPr>
        <p:spPr>
          <a:xfrm>
            <a:off x="6309360" y="2606040"/>
            <a:ext cx="4069080" cy="822960"/>
          </a:xfrm>
          <a:prstGeom prst="rect">
            <a:avLst/>
          </a:prstGeom>
          <a:noFill/>
        </p:spPr>
        <p:txBody>
          <a:bodyPr wrap="square" anchor="t"/>
          <a:lstStyle/>
          <a:p>
            <a:pPr algn="l">
              <a:lnSpc>
                <a:spcPts val="1035"/>
              </a:lnSpc>
              <a:spcAft>
                <a:spcPts val="400"/>
              </a:spcAft>
              <a:defRPr sz="900" b="0">
                <a:solidFill>
                  <a:srgbClr val="1C1C24"/>
                </a:solidFill>
                <a:latin typeface="Segoe UI" panose="020B0502040204020203"/>
              </a:defRPr>
            </a:pPr>
            <a:r>
              <a:t>Peace, Justice &amp; Strong Institutions</a:t>
            </a:r>
          </a:p>
        </p:txBody>
      </p:sp>
      <p:sp>
        <p:nvSpPr>
          <p:cNvPr id="14" name="Rounded Rectangle 13"/>
          <p:cNvSpPr/>
          <p:nvPr/>
        </p:nvSpPr>
        <p:spPr>
          <a:xfrm>
            <a:off x="1097280" y="388620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05079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panose="02040502050405020303"/>
              </a:defRPr>
            </a:pPr>
            <a:r>
              <a:t>Partnership</a:t>
            </a:r>
          </a:p>
        </p:txBody>
      </p:sp>
      <p:sp>
        <p:nvSpPr>
          <p:cNvPr id="16" name="TextBox 15"/>
          <p:cNvSpPr txBox="1"/>
          <p:nvPr/>
        </p:nvSpPr>
        <p:spPr>
          <a:xfrm>
            <a:off x="1371600" y="4389120"/>
            <a:ext cx="4069080" cy="36576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Mobilize the means required to implement this agenda through global solidarity</a:t>
            </a:r>
          </a:p>
        </p:txBody>
      </p:sp>
      <p:sp>
        <p:nvSpPr>
          <p:cNvPr id="17" name="TextBox 16"/>
          <p:cNvSpPr txBox="1"/>
          <p:nvPr/>
        </p:nvSpPr>
        <p:spPr>
          <a:xfrm>
            <a:off x="1371600" y="4937760"/>
            <a:ext cx="4069080" cy="822960"/>
          </a:xfrm>
          <a:prstGeom prst="rect">
            <a:avLst/>
          </a:prstGeom>
          <a:noFill/>
        </p:spPr>
        <p:txBody>
          <a:bodyPr wrap="square" anchor="t"/>
          <a:lstStyle/>
          <a:p>
            <a:pPr algn="l">
              <a:lnSpc>
                <a:spcPts val="1035"/>
              </a:lnSpc>
              <a:spcAft>
                <a:spcPts val="400"/>
              </a:spcAft>
              <a:defRPr sz="900" b="0">
                <a:solidFill>
                  <a:srgbClr val="1C1C24"/>
                </a:solidFill>
                <a:latin typeface="Segoe UI" panose="020B0502040204020203"/>
              </a:defRPr>
            </a:pPr>
            <a:r>
              <a:t>Partnerships for the Goals</a:t>
            </a:r>
          </a:p>
        </p:txBody>
      </p:sp>
      <p:sp>
        <p:nvSpPr>
          <p:cNvPr id="18" name="TextBox 17"/>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8</a:t>
            </a:r>
          </a:p>
        </p:txBody>
      </p:sp>
    </p:spTree>
  </p:cSld>
  <p:clrMapOvr>
    <a:masterClrMapping/>
  </p:clrMapOvr>
  <p:transition>
    <p:fade/>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Spotlight: SDG 13 — Climate Action</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The science is clear, the solutions exist — why this goal matters most</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463040"/>
            <a:ext cx="137160" cy="3657600"/>
          </a:xfrm>
          <a:prstGeom prst="rect">
            <a:avLst/>
          </a:prstGeom>
          <a:solidFill>
            <a:srgbClr val="3F7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1463040"/>
            <a:ext cx="4572000" cy="45720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Why Climate Action Matters</a:t>
            </a:r>
          </a:p>
        </p:txBody>
      </p:sp>
      <p:sp>
        <p:nvSpPr>
          <p:cNvPr id="8" name="TextBox 7"/>
          <p:cNvSpPr txBox="1"/>
          <p:nvPr/>
        </p:nvSpPr>
        <p:spPr>
          <a:xfrm>
            <a:off x="1463040" y="2103120"/>
            <a:ext cx="7772400" cy="274320"/>
          </a:xfrm>
          <a:prstGeom prst="rect">
            <a:avLst/>
          </a:prstGeom>
          <a:noFill/>
        </p:spPr>
        <p:txBody>
          <a:bodyPr wrap="square" anchor="t"/>
          <a:lstStyle/>
          <a:p>
            <a:pPr algn="l">
              <a:lnSpc>
                <a:spcPts val="1265"/>
              </a:lnSpc>
              <a:spcAft>
                <a:spcPts val="400"/>
              </a:spcAft>
              <a:defRPr sz="1100" b="0">
                <a:solidFill>
                  <a:srgbClr val="1C1C24"/>
                </a:solidFill>
                <a:latin typeface="Segoe UI" panose="020B0502040204020203"/>
              </a:defRPr>
            </a:pPr>
          </a:p>
          <a:p>
            <a:pPr algn="l">
              <a:lnSpc>
                <a:spcPts val="1610"/>
              </a:lnSpc>
              <a:spcAft>
                <a:spcPts val="600"/>
              </a:spcAft>
              <a:defRPr sz="1400" b="1">
                <a:solidFill>
                  <a:srgbClr val="1C1C24"/>
                </a:solidFill>
                <a:latin typeface="Segoe UI" panose="020B0502040204020203"/>
              </a:defRPr>
            </a:pPr>
            <a:r>
              <a:t>Rising Temperatures</a:t>
            </a:r>
          </a:p>
          <a:p>
            <a:pPr algn="l">
              <a:lnSpc>
                <a:spcPts val="1380"/>
              </a:lnSpc>
              <a:spcAft>
                <a:spcPts val="1000"/>
              </a:spcAft>
              <a:defRPr sz="1200" b="0">
                <a:solidFill>
                  <a:srgbClr val="6B6560"/>
                </a:solidFill>
                <a:latin typeface="Segoe UI" panose="020B0502040204020203"/>
              </a:defRPr>
            </a:pPr>
            <a:r>
              <a:t>Global average temperature has risen ~1.1°C above pre-industrial levels. The past decade (2014–2024) was the warmest on record.</a:t>
            </a:r>
          </a:p>
          <a:p>
            <a:pPr algn="l">
              <a:lnSpc>
                <a:spcPts val="1610"/>
              </a:lnSpc>
              <a:spcAft>
                <a:spcPts val="600"/>
              </a:spcAft>
              <a:defRPr sz="1400" b="1">
                <a:solidFill>
                  <a:srgbClr val="1C1C24"/>
                </a:solidFill>
                <a:latin typeface="Segoe UI" panose="020B0502040204020203"/>
              </a:defRPr>
            </a:pPr>
            <a:r>
              <a:t>Extreme Weather</a:t>
            </a:r>
          </a:p>
          <a:p>
            <a:pPr algn="l">
              <a:lnSpc>
                <a:spcPts val="1380"/>
              </a:lnSpc>
              <a:spcAft>
                <a:spcPts val="1000"/>
              </a:spcAft>
              <a:defRPr sz="1200" b="0">
                <a:solidFill>
                  <a:srgbClr val="6B6560"/>
                </a:solidFill>
                <a:latin typeface="Segoe UI" panose="020B0502040204020203"/>
              </a:defRPr>
            </a:pPr>
            <a:r>
              <a:t>Climate-related disasters have increased over 80% in the last decade, affecting millions and costing billions in damages globally.</a:t>
            </a:r>
          </a:p>
          <a:p>
            <a:pPr algn="l">
              <a:lnSpc>
                <a:spcPts val="1610"/>
              </a:lnSpc>
              <a:spcAft>
                <a:spcPts val="600"/>
              </a:spcAft>
              <a:defRPr sz="1400" b="1">
                <a:solidFill>
                  <a:srgbClr val="1C1C24"/>
                </a:solidFill>
                <a:latin typeface="Segoe UI" panose="020B0502040204020203"/>
              </a:defRPr>
            </a:pPr>
            <a:r>
              <a:t>Emissions Gap</a:t>
            </a:r>
          </a:p>
          <a:p>
            <a:pPr algn="l">
              <a:lnSpc>
                <a:spcPts val="1380"/>
              </a:lnSpc>
              <a:spcAft>
                <a:spcPts val="1000"/>
              </a:spcAft>
              <a:defRPr sz="1200" b="0">
                <a:solidFill>
                  <a:srgbClr val="6B6560"/>
                </a:solidFill>
                <a:latin typeface="Segoe UI" panose="020B0502040204020203"/>
              </a:defRPr>
            </a:pPr>
            <a:r>
              <a:t>To limit warming to 1.5°C, global greenhouse gas emissions must peak before 2025 and decline 43% by 2030 from 2019 levels.</a:t>
            </a:r>
          </a:p>
          <a:p>
            <a:pPr algn="l">
              <a:lnSpc>
                <a:spcPts val="1610"/>
              </a:lnSpc>
              <a:spcAft>
                <a:spcPts val="600"/>
              </a:spcAft>
              <a:defRPr sz="1400" b="1">
                <a:solidFill>
                  <a:srgbClr val="1C1C24"/>
                </a:solidFill>
                <a:latin typeface="Segoe UI" panose="020B0502040204020203"/>
              </a:defRPr>
            </a:pPr>
            <a:r>
              <a:t>Sea Level Rise</a:t>
            </a:r>
          </a:p>
          <a:p>
            <a:pPr algn="l">
              <a:lnSpc>
                <a:spcPts val="1380"/>
              </a:lnSpc>
              <a:spcAft>
                <a:spcPts val="1000"/>
              </a:spcAft>
              <a:defRPr sz="1200" b="0">
                <a:solidFill>
                  <a:srgbClr val="6B6560"/>
                </a:solidFill>
                <a:latin typeface="Segoe UI" panose="020B0502040204020203"/>
              </a:defRPr>
            </a:pPr>
            <a:r>
              <a:t>The difference between 1.5°C and 2°C of warming means 10 million more people at risk from coastal flooding and saltwater intrusion.</a:t>
            </a:r>
          </a:p>
          <a:p>
            <a:pPr algn="l">
              <a:lnSpc>
                <a:spcPts val="1610"/>
              </a:lnSpc>
              <a:spcAft>
                <a:spcPts val="600"/>
              </a:spcAft>
              <a:defRPr sz="1400" b="1">
                <a:solidFill>
                  <a:srgbClr val="1C1C24"/>
                </a:solidFill>
                <a:latin typeface="Segoe UI" panose="020B0502040204020203"/>
              </a:defRPr>
            </a:pPr>
            <a:r>
              <a:t>Ecosystem Impact</a:t>
            </a:r>
          </a:p>
          <a:p>
            <a:pPr algn="l">
              <a:lnSpc>
                <a:spcPts val="1380"/>
              </a:lnSpc>
              <a:spcAft>
                <a:spcPts val="1000"/>
              </a:spcAft>
              <a:defRPr sz="1200" b="0">
                <a:solidFill>
                  <a:srgbClr val="6B6560"/>
                </a:solidFill>
                <a:latin typeface="Segoe UI" panose="020B0502040204020203"/>
              </a:defRPr>
            </a:pPr>
            <a:r>
              <a:t>Coral reefs could decline 70–90% at 1.5°C warming, and over 99% at 2°C — threatening marine biodiversity and coastal livelihoods.</a:t>
            </a:r>
          </a:p>
        </p:txBody>
      </p:sp>
      <p:sp>
        <p:nvSpPr>
          <p:cNvPr id="9" name="TextBox 8"/>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9</a:t>
            </a:r>
          </a:p>
        </p:txBody>
      </p:sp>
    </p:spTree>
  </p:cSld>
  <p:clrMapOvr>
    <a:masterClrMapping/>
  </p:clrMapOvr>
  <p:transition>
    <p:fade/>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Spotlight: SDG 4 — Quality Education</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Why education is the foundation for every other SDG</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463040"/>
            <a:ext cx="137160" cy="3657600"/>
          </a:xfrm>
          <a:prstGeom prst="rect">
            <a:avLst/>
          </a:prstGeom>
          <a:solidFill>
            <a:srgbClr val="C519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1463040"/>
            <a:ext cx="4572000" cy="45720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Why Quality Education Matters</a:t>
            </a:r>
          </a:p>
        </p:txBody>
      </p:sp>
      <p:sp>
        <p:nvSpPr>
          <p:cNvPr id="8" name="TextBox 7"/>
          <p:cNvSpPr txBox="1"/>
          <p:nvPr/>
        </p:nvSpPr>
        <p:spPr>
          <a:xfrm>
            <a:off x="1463040" y="2103120"/>
            <a:ext cx="7772400" cy="274320"/>
          </a:xfrm>
          <a:prstGeom prst="rect">
            <a:avLst/>
          </a:prstGeom>
          <a:noFill/>
        </p:spPr>
        <p:txBody>
          <a:bodyPr wrap="square" anchor="t"/>
          <a:lstStyle/>
          <a:p>
            <a:pPr algn="l">
              <a:lnSpc>
                <a:spcPts val="1265"/>
              </a:lnSpc>
              <a:spcAft>
                <a:spcPts val="400"/>
              </a:spcAft>
              <a:defRPr sz="1100" b="0">
                <a:solidFill>
                  <a:srgbClr val="1C1C24"/>
                </a:solidFill>
                <a:latin typeface="Segoe UI" panose="020B0502040204020203"/>
              </a:defRPr>
            </a:pPr>
          </a:p>
          <a:p>
            <a:pPr algn="l">
              <a:lnSpc>
                <a:spcPts val="1610"/>
              </a:lnSpc>
              <a:spcAft>
                <a:spcPts val="600"/>
              </a:spcAft>
              <a:defRPr sz="1400" b="1">
                <a:solidFill>
                  <a:srgbClr val="1C1C24"/>
                </a:solidFill>
                <a:latin typeface="Segoe UI" panose="020B0502040204020203"/>
              </a:defRPr>
            </a:pPr>
            <a:r>
              <a:t>Learning Crisis</a:t>
            </a:r>
          </a:p>
          <a:p>
            <a:pPr algn="l">
              <a:lnSpc>
                <a:spcPts val="1380"/>
              </a:lnSpc>
              <a:spcAft>
                <a:spcPts val="1000"/>
              </a:spcAft>
              <a:defRPr sz="1200" b="0">
                <a:solidFill>
                  <a:srgbClr val="6B6560"/>
                </a:solidFill>
                <a:latin typeface="Segoe UI" panose="020B0502040204020203"/>
              </a:defRPr>
            </a:pPr>
            <a:r>
              <a:t>Before COVID-19, 258 million children and youth were out of school. Only 58% of students worldwide achieve minimum proficiency in reading and math.</a:t>
            </a:r>
          </a:p>
          <a:p>
            <a:pPr algn="l">
              <a:lnSpc>
                <a:spcPts val="1610"/>
              </a:lnSpc>
              <a:spcAft>
                <a:spcPts val="600"/>
              </a:spcAft>
              <a:defRPr sz="1400" b="1">
                <a:solidFill>
                  <a:srgbClr val="1C1C24"/>
                </a:solidFill>
                <a:latin typeface="Segoe UI" panose="020B0502040204020203"/>
              </a:defRPr>
            </a:pPr>
            <a:r>
              <a:t>Gender Disparity</a:t>
            </a:r>
          </a:p>
          <a:p>
            <a:pPr algn="l">
              <a:lnSpc>
                <a:spcPts val="1380"/>
              </a:lnSpc>
              <a:spcAft>
                <a:spcPts val="1000"/>
              </a:spcAft>
              <a:defRPr sz="1200" b="0">
                <a:solidFill>
                  <a:srgbClr val="6B6560"/>
                </a:solidFill>
                <a:latin typeface="Segoe UI" panose="020B0502040204020203"/>
              </a:defRPr>
            </a:pPr>
            <a:r>
              <a:t>Girls in conflict-affected areas are 2.5× more likely to be out of school. Education reduces child marriage and improves health outcomes.</a:t>
            </a:r>
          </a:p>
          <a:p>
            <a:pPr algn="l">
              <a:lnSpc>
                <a:spcPts val="1610"/>
              </a:lnSpc>
              <a:spcAft>
                <a:spcPts val="600"/>
              </a:spcAft>
              <a:defRPr sz="1400" b="1">
                <a:solidFill>
                  <a:srgbClr val="1C1C24"/>
                </a:solidFill>
                <a:latin typeface="Segoe UI" panose="020B0502040204020203"/>
              </a:defRPr>
            </a:pPr>
            <a:r>
              <a:t>Economic Multiplier</a:t>
            </a:r>
          </a:p>
          <a:p>
            <a:pPr algn="l">
              <a:lnSpc>
                <a:spcPts val="1380"/>
              </a:lnSpc>
              <a:spcAft>
                <a:spcPts val="1000"/>
              </a:spcAft>
              <a:defRPr sz="1200" b="0">
                <a:solidFill>
                  <a:srgbClr val="6B6560"/>
                </a:solidFill>
                <a:latin typeface="Segoe UI" panose="020B0502040204020203"/>
              </a:defRPr>
            </a:pPr>
            <a:r>
              <a:t>Each additional year of schooling raises individual earnings by ~10%. Education is the single most powerful driver of economic mobility.</a:t>
            </a:r>
          </a:p>
          <a:p>
            <a:pPr algn="l">
              <a:lnSpc>
                <a:spcPts val="1610"/>
              </a:lnSpc>
              <a:spcAft>
                <a:spcPts val="600"/>
              </a:spcAft>
              <a:defRPr sz="1400" b="1">
                <a:solidFill>
                  <a:srgbClr val="1C1C24"/>
                </a:solidFill>
                <a:latin typeface="Segoe UI" panose="020B0502040204020203"/>
              </a:defRPr>
            </a:pPr>
            <a:r>
              <a:t>Digital Divide</a:t>
            </a:r>
          </a:p>
          <a:p>
            <a:pPr algn="l">
              <a:lnSpc>
                <a:spcPts val="1380"/>
              </a:lnSpc>
              <a:spcAft>
                <a:spcPts val="1000"/>
              </a:spcAft>
              <a:defRPr sz="1200" b="0">
                <a:solidFill>
                  <a:srgbClr val="6B6560"/>
                </a:solidFill>
                <a:latin typeface="Segoe UI" panose="020B0502040204020203"/>
              </a:defRPr>
            </a:pPr>
            <a:r>
              <a:t>Over 1.3 billion school-age children lack home internet access, creating a homework gap that widens inequality in the digital era.</a:t>
            </a:r>
          </a:p>
          <a:p>
            <a:pPr algn="l">
              <a:lnSpc>
                <a:spcPts val="1610"/>
              </a:lnSpc>
              <a:spcAft>
                <a:spcPts val="600"/>
              </a:spcAft>
              <a:defRPr sz="1400" b="1">
                <a:solidFill>
                  <a:srgbClr val="1C1C24"/>
                </a:solidFill>
                <a:latin typeface="Segoe UI" panose="020B0502040204020203"/>
              </a:defRPr>
            </a:pPr>
            <a:r>
              <a:t>Foundational Goal</a:t>
            </a:r>
          </a:p>
          <a:p>
            <a:pPr algn="l">
              <a:lnSpc>
                <a:spcPts val="1380"/>
              </a:lnSpc>
              <a:spcAft>
                <a:spcPts val="1000"/>
              </a:spcAft>
              <a:defRPr sz="1200" b="0">
                <a:solidFill>
                  <a:srgbClr val="6B6560"/>
                </a:solidFill>
                <a:latin typeface="Segoe UI" panose="020B0502040204020203"/>
              </a:defRPr>
            </a:pPr>
            <a:r>
              <a:t>Quality education underpins every other SDG — from poverty reduction (SDG 1) to innovation (SDG 9) and climate awareness (SDG 13).</a:t>
            </a:r>
          </a:p>
        </p:txBody>
      </p:sp>
      <p:sp>
        <p:nvSpPr>
          <p:cNvPr id="9" name="TextBox 8"/>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10</a:t>
            </a:r>
          </a:p>
        </p:txBody>
      </p:sp>
    </p:spTree>
  </p:cSld>
  <p:clrMapOvr>
    <a:masterClrMapping/>
  </p:clrMapOvr>
  <p:transition>
    <p:fad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Meet the Team</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Four students, four different majors, one project</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266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64411" y="1655064"/>
            <a:ext cx="1719072" cy="2039112"/>
          </a:xfrm>
          <a:prstGeom prst="roundRect">
            <a:avLst/>
          </a:prstGeom>
          <a:solidFill>
            <a:srgbClr val="2C5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i-shuhang.jpg"/>
          <p:cNvPicPr>
            <a:picLocks noChangeAspect="1"/>
          </p:cNvPicPr>
          <p:nvPr/>
        </p:nvPicPr>
        <p:blipFill>
          <a:blip r:embed="rId1"/>
          <a:stretch>
            <a:fillRect/>
          </a:stretch>
        </p:blipFill>
        <p:spPr>
          <a:xfrm>
            <a:off x="1501140" y="1778000"/>
            <a:ext cx="1645920" cy="1879600"/>
          </a:xfrm>
          <a:prstGeom prst="rect">
            <a:avLst/>
          </a:prstGeom>
        </p:spPr>
      </p:pic>
      <p:sp>
        <p:nvSpPr>
          <p:cNvPr id="9" name="TextBox 8"/>
          <p:cNvSpPr txBox="1"/>
          <p:nvPr/>
        </p:nvSpPr>
        <p:spPr>
          <a:xfrm>
            <a:off x="1336395" y="3794760"/>
            <a:ext cx="1975104" cy="256032"/>
          </a:xfrm>
          <a:prstGeom prst="rect">
            <a:avLst/>
          </a:prstGeom>
          <a:noFill/>
        </p:spPr>
        <p:txBody>
          <a:bodyPr wrap="square" anchor="t"/>
          <a:lstStyle/>
          <a:p>
            <a:pPr algn="ctr">
              <a:lnSpc>
                <a:spcPts val="1725"/>
              </a:lnSpc>
              <a:spcAft>
                <a:spcPts val="400"/>
              </a:spcAft>
              <a:defRPr sz="1500" b="1">
                <a:solidFill>
                  <a:srgbClr val="1C1C24"/>
                </a:solidFill>
                <a:latin typeface="Georgia" panose="02040502050405020303"/>
              </a:defRPr>
            </a:pPr>
            <a:r>
              <a:t>Li Shuhang</a:t>
            </a:r>
          </a:p>
        </p:txBody>
      </p:sp>
      <p:sp>
        <p:nvSpPr>
          <p:cNvPr id="10" name="TextBox 9"/>
          <p:cNvSpPr txBox="1"/>
          <p:nvPr/>
        </p:nvSpPr>
        <p:spPr>
          <a:xfrm>
            <a:off x="1336395" y="4069080"/>
            <a:ext cx="1975104" cy="182880"/>
          </a:xfrm>
          <a:prstGeom prst="rect">
            <a:avLst/>
          </a:prstGeom>
          <a:noFill/>
        </p:spPr>
        <p:txBody>
          <a:bodyPr wrap="square" anchor="t"/>
          <a:lstStyle/>
          <a:p>
            <a:pPr algn="ctr">
              <a:lnSpc>
                <a:spcPts val="1150"/>
              </a:lnSpc>
              <a:spcAft>
                <a:spcPts val="400"/>
              </a:spcAft>
              <a:defRPr sz="1000" b="1">
                <a:solidFill>
                  <a:srgbClr val="C48B5C"/>
                </a:solidFill>
                <a:latin typeface="Segoe UI" panose="020B0502040204020203"/>
              </a:defRPr>
            </a:pPr>
            <a:r>
              <a:t>Project Lead</a:t>
            </a:r>
          </a:p>
        </p:txBody>
      </p:sp>
      <p:sp>
        <p:nvSpPr>
          <p:cNvPr id="11" name="TextBox 10"/>
          <p:cNvSpPr txBox="1"/>
          <p:nvPr/>
        </p:nvSpPr>
        <p:spPr>
          <a:xfrm>
            <a:off x="1336395" y="4251960"/>
            <a:ext cx="1975104" cy="320040"/>
          </a:xfrm>
          <a:prstGeom prst="rect">
            <a:avLst/>
          </a:prstGeom>
          <a:noFill/>
        </p:spPr>
        <p:txBody>
          <a:bodyPr wrap="square" anchor="t"/>
          <a:lstStyle/>
          <a:p>
            <a:pPr algn="ctr">
              <a:lnSpc>
                <a:spcPts val="920"/>
              </a:lnSpc>
              <a:spcAft>
                <a:spcPts val="400"/>
              </a:spcAft>
              <a:defRPr sz="800" b="0">
                <a:solidFill>
                  <a:srgbClr val="6B6560"/>
                </a:solidFill>
                <a:latin typeface="Segoe UI" panose="020B0502040204020203"/>
              </a:defRPr>
            </a:pPr>
            <a:r>
              <a:t>Environmental Science</a:t>
            </a:r>
            <a:br/>
            <a:r>
              <a:t>ID: 8168667</a:t>
            </a:r>
          </a:p>
        </p:txBody>
      </p:sp>
      <p:sp>
        <p:nvSpPr>
          <p:cNvPr id="12" name="Rounded Rectangle 11"/>
          <p:cNvSpPr/>
          <p:nvPr/>
        </p:nvSpPr>
        <p:spPr>
          <a:xfrm>
            <a:off x="37412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79011" y="1655064"/>
            <a:ext cx="1719072" cy="2039112"/>
          </a:xfrm>
          <a:prstGeom prst="round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eng-jingyi.jpg"/>
          <p:cNvPicPr>
            <a:picLocks noChangeAspect="1"/>
          </p:cNvPicPr>
          <p:nvPr/>
        </p:nvPicPr>
        <p:blipFill>
          <a:blip r:embed="rId2"/>
          <a:stretch>
            <a:fillRect/>
          </a:stretch>
        </p:blipFill>
        <p:spPr>
          <a:xfrm>
            <a:off x="4063365" y="1691640"/>
            <a:ext cx="1550670" cy="1965960"/>
          </a:xfrm>
          <a:prstGeom prst="rect">
            <a:avLst/>
          </a:prstGeom>
        </p:spPr>
      </p:pic>
      <p:sp>
        <p:nvSpPr>
          <p:cNvPr id="15" name="TextBox 14"/>
          <p:cNvSpPr txBox="1"/>
          <p:nvPr/>
        </p:nvSpPr>
        <p:spPr>
          <a:xfrm>
            <a:off x="3850995" y="3794760"/>
            <a:ext cx="1975104" cy="256032"/>
          </a:xfrm>
          <a:prstGeom prst="rect">
            <a:avLst/>
          </a:prstGeom>
          <a:noFill/>
        </p:spPr>
        <p:txBody>
          <a:bodyPr wrap="square" anchor="t"/>
          <a:lstStyle/>
          <a:p>
            <a:pPr algn="ctr">
              <a:lnSpc>
                <a:spcPts val="1725"/>
              </a:lnSpc>
              <a:spcAft>
                <a:spcPts val="400"/>
              </a:spcAft>
              <a:defRPr sz="1500" b="1">
                <a:solidFill>
                  <a:srgbClr val="1C1C24"/>
                </a:solidFill>
                <a:latin typeface="Georgia" panose="02040502050405020303"/>
              </a:defRPr>
            </a:pPr>
            <a:r>
              <a:t>Feng Jingyi</a:t>
            </a:r>
          </a:p>
        </p:txBody>
      </p:sp>
      <p:sp>
        <p:nvSpPr>
          <p:cNvPr id="16" name="TextBox 15"/>
          <p:cNvSpPr txBox="1"/>
          <p:nvPr/>
        </p:nvSpPr>
        <p:spPr>
          <a:xfrm>
            <a:off x="3850995" y="4069080"/>
            <a:ext cx="1975104" cy="182880"/>
          </a:xfrm>
          <a:prstGeom prst="rect">
            <a:avLst/>
          </a:prstGeom>
          <a:noFill/>
        </p:spPr>
        <p:txBody>
          <a:bodyPr wrap="square" anchor="t"/>
          <a:lstStyle/>
          <a:p>
            <a:pPr algn="ctr">
              <a:lnSpc>
                <a:spcPts val="1150"/>
              </a:lnSpc>
              <a:spcAft>
                <a:spcPts val="400"/>
              </a:spcAft>
              <a:defRPr sz="1000" b="1">
                <a:solidFill>
                  <a:srgbClr val="C48B5C"/>
                </a:solidFill>
                <a:latin typeface="Segoe UI" panose="020B0502040204020203"/>
              </a:defRPr>
            </a:pPr>
            <a:r>
              <a:t>Tech Development</a:t>
            </a:r>
          </a:p>
        </p:txBody>
      </p:sp>
      <p:sp>
        <p:nvSpPr>
          <p:cNvPr id="17" name="TextBox 16"/>
          <p:cNvSpPr txBox="1"/>
          <p:nvPr/>
        </p:nvSpPr>
        <p:spPr>
          <a:xfrm>
            <a:off x="3850995" y="4251960"/>
            <a:ext cx="1975104" cy="320040"/>
          </a:xfrm>
          <a:prstGeom prst="rect">
            <a:avLst/>
          </a:prstGeom>
          <a:noFill/>
        </p:spPr>
        <p:txBody>
          <a:bodyPr wrap="square" anchor="t"/>
          <a:lstStyle/>
          <a:p>
            <a:pPr algn="ctr">
              <a:lnSpc>
                <a:spcPts val="920"/>
              </a:lnSpc>
              <a:spcAft>
                <a:spcPts val="400"/>
              </a:spcAft>
              <a:defRPr sz="800" b="0">
                <a:solidFill>
                  <a:srgbClr val="6B6560"/>
                </a:solidFill>
                <a:latin typeface="Segoe UI" panose="020B0502040204020203"/>
              </a:defRPr>
            </a:pPr>
            <a:r>
              <a:t>Computer Science</a:t>
            </a:r>
            <a:br/>
            <a:r>
              <a:t>ID: 8168308</a:t>
            </a:r>
          </a:p>
        </p:txBody>
      </p:sp>
      <p:sp>
        <p:nvSpPr>
          <p:cNvPr id="18" name="Rounded Rectangle 17"/>
          <p:cNvSpPr/>
          <p:nvPr/>
        </p:nvSpPr>
        <p:spPr>
          <a:xfrm>
            <a:off x="62558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93611" y="1655064"/>
            <a:ext cx="1719072" cy="2039112"/>
          </a:xfrm>
          <a:prstGeom prst="roundRect">
            <a:avLst/>
          </a:prstGeom>
          <a:solidFill>
            <a:srgbClr val="5C2D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ang-luyang.jpg"/>
          <p:cNvPicPr>
            <a:picLocks noChangeAspect="1"/>
          </p:cNvPicPr>
          <p:nvPr/>
        </p:nvPicPr>
        <p:blipFill>
          <a:blip r:embed="rId3"/>
          <a:stretch>
            <a:fillRect/>
          </a:stretch>
        </p:blipFill>
        <p:spPr>
          <a:xfrm>
            <a:off x="6530340" y="1716405"/>
            <a:ext cx="1645920" cy="1877060"/>
          </a:xfrm>
          <a:prstGeom prst="rect">
            <a:avLst/>
          </a:prstGeom>
        </p:spPr>
      </p:pic>
      <p:sp>
        <p:nvSpPr>
          <p:cNvPr id="21" name="TextBox 20"/>
          <p:cNvSpPr txBox="1"/>
          <p:nvPr/>
        </p:nvSpPr>
        <p:spPr>
          <a:xfrm>
            <a:off x="6365595" y="3794760"/>
            <a:ext cx="1975104" cy="256032"/>
          </a:xfrm>
          <a:prstGeom prst="rect">
            <a:avLst/>
          </a:prstGeom>
          <a:noFill/>
        </p:spPr>
        <p:txBody>
          <a:bodyPr wrap="square" anchor="t"/>
          <a:lstStyle/>
          <a:p>
            <a:pPr algn="ctr">
              <a:lnSpc>
                <a:spcPts val="1725"/>
              </a:lnSpc>
              <a:spcAft>
                <a:spcPts val="400"/>
              </a:spcAft>
              <a:defRPr sz="1500" b="1">
                <a:solidFill>
                  <a:srgbClr val="1C1C24"/>
                </a:solidFill>
                <a:latin typeface="Georgia" panose="02040502050405020303"/>
              </a:defRPr>
            </a:pPr>
            <a:r>
              <a:t>Wang Luyang</a:t>
            </a:r>
          </a:p>
        </p:txBody>
      </p:sp>
      <p:sp>
        <p:nvSpPr>
          <p:cNvPr id="22" name="TextBox 21"/>
          <p:cNvSpPr txBox="1"/>
          <p:nvPr/>
        </p:nvSpPr>
        <p:spPr>
          <a:xfrm>
            <a:off x="6365595" y="4069080"/>
            <a:ext cx="1975104" cy="182880"/>
          </a:xfrm>
          <a:prstGeom prst="rect">
            <a:avLst/>
          </a:prstGeom>
          <a:noFill/>
        </p:spPr>
        <p:txBody>
          <a:bodyPr wrap="square" anchor="t"/>
          <a:lstStyle/>
          <a:p>
            <a:pPr algn="ctr">
              <a:lnSpc>
                <a:spcPts val="1150"/>
              </a:lnSpc>
              <a:spcAft>
                <a:spcPts val="400"/>
              </a:spcAft>
              <a:defRPr sz="1000" b="1">
                <a:solidFill>
                  <a:srgbClr val="C48B5C"/>
                </a:solidFill>
                <a:latin typeface="Segoe UI" panose="020B0502040204020203"/>
              </a:defRPr>
            </a:pPr>
            <a:r>
              <a:t>Policy Research</a:t>
            </a:r>
          </a:p>
        </p:txBody>
      </p:sp>
      <p:sp>
        <p:nvSpPr>
          <p:cNvPr id="23" name="TextBox 22"/>
          <p:cNvSpPr txBox="1"/>
          <p:nvPr/>
        </p:nvSpPr>
        <p:spPr>
          <a:xfrm>
            <a:off x="6365595" y="4251960"/>
            <a:ext cx="1975104" cy="320040"/>
          </a:xfrm>
          <a:prstGeom prst="rect">
            <a:avLst/>
          </a:prstGeom>
          <a:noFill/>
        </p:spPr>
        <p:txBody>
          <a:bodyPr wrap="square" anchor="t"/>
          <a:lstStyle/>
          <a:p>
            <a:pPr algn="ctr">
              <a:lnSpc>
                <a:spcPts val="920"/>
              </a:lnSpc>
              <a:spcAft>
                <a:spcPts val="400"/>
              </a:spcAft>
              <a:defRPr sz="800" b="0">
                <a:solidFill>
                  <a:srgbClr val="6B6560"/>
                </a:solidFill>
                <a:latin typeface="Segoe UI" panose="020B0502040204020203"/>
              </a:defRPr>
            </a:pPr>
            <a:r>
              <a:t>International Affairs</a:t>
            </a:r>
            <a:br/>
            <a:r>
              <a:t>ID: 8168505</a:t>
            </a:r>
          </a:p>
        </p:txBody>
      </p:sp>
      <p:sp>
        <p:nvSpPr>
          <p:cNvPr id="24" name="Rounded Rectangle 23"/>
          <p:cNvSpPr/>
          <p:nvPr/>
        </p:nvSpPr>
        <p:spPr>
          <a:xfrm>
            <a:off x="87704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08211" y="1655064"/>
            <a:ext cx="1719072" cy="2039112"/>
          </a:xfrm>
          <a:prstGeom prst="roundRect">
            <a:avLst/>
          </a:prstGeom>
          <a:solidFill>
            <a:srgbClr val="B857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u-jianning.jpg"/>
          <p:cNvPicPr>
            <a:picLocks noChangeAspect="1"/>
          </p:cNvPicPr>
          <p:nvPr/>
        </p:nvPicPr>
        <p:blipFill>
          <a:blip r:embed="rId4"/>
          <a:stretch>
            <a:fillRect/>
          </a:stretch>
        </p:blipFill>
        <p:spPr>
          <a:xfrm>
            <a:off x="9044787" y="1691640"/>
            <a:ext cx="1645920" cy="1965960"/>
          </a:xfrm>
          <a:prstGeom prst="rect">
            <a:avLst/>
          </a:prstGeom>
        </p:spPr>
      </p:pic>
      <p:sp>
        <p:nvSpPr>
          <p:cNvPr id="27" name="TextBox 26"/>
          <p:cNvSpPr txBox="1"/>
          <p:nvPr/>
        </p:nvSpPr>
        <p:spPr>
          <a:xfrm>
            <a:off x="8880195" y="3794760"/>
            <a:ext cx="1975104" cy="256032"/>
          </a:xfrm>
          <a:prstGeom prst="rect">
            <a:avLst/>
          </a:prstGeom>
          <a:noFill/>
        </p:spPr>
        <p:txBody>
          <a:bodyPr wrap="square" anchor="t"/>
          <a:lstStyle/>
          <a:p>
            <a:pPr algn="ctr">
              <a:lnSpc>
                <a:spcPts val="1725"/>
              </a:lnSpc>
              <a:spcAft>
                <a:spcPts val="400"/>
              </a:spcAft>
              <a:defRPr sz="1500" b="1">
                <a:solidFill>
                  <a:srgbClr val="1C1C24"/>
                </a:solidFill>
                <a:latin typeface="Georgia" panose="02040502050405020303"/>
              </a:defRPr>
            </a:pPr>
            <a:r>
              <a:t>Lu Jianning</a:t>
            </a:r>
          </a:p>
        </p:txBody>
      </p:sp>
      <p:sp>
        <p:nvSpPr>
          <p:cNvPr id="28" name="TextBox 27"/>
          <p:cNvSpPr txBox="1"/>
          <p:nvPr/>
        </p:nvSpPr>
        <p:spPr>
          <a:xfrm>
            <a:off x="8880195" y="4069080"/>
            <a:ext cx="1975104" cy="182880"/>
          </a:xfrm>
          <a:prstGeom prst="rect">
            <a:avLst/>
          </a:prstGeom>
          <a:noFill/>
        </p:spPr>
        <p:txBody>
          <a:bodyPr wrap="square" anchor="t"/>
          <a:lstStyle/>
          <a:p>
            <a:pPr algn="ctr">
              <a:lnSpc>
                <a:spcPts val="1150"/>
              </a:lnSpc>
              <a:spcAft>
                <a:spcPts val="400"/>
              </a:spcAft>
              <a:defRPr sz="1000" b="1">
                <a:solidFill>
                  <a:srgbClr val="C48B5C"/>
                </a:solidFill>
                <a:latin typeface="Segoe UI" panose="020B0502040204020203"/>
              </a:defRPr>
            </a:pPr>
            <a:r>
              <a:t>Data Analyst</a:t>
            </a:r>
          </a:p>
        </p:txBody>
      </p:sp>
      <p:sp>
        <p:nvSpPr>
          <p:cNvPr id="29" name="TextBox 28"/>
          <p:cNvSpPr txBox="1"/>
          <p:nvPr/>
        </p:nvSpPr>
        <p:spPr>
          <a:xfrm>
            <a:off x="8880195" y="4251960"/>
            <a:ext cx="1975104" cy="320040"/>
          </a:xfrm>
          <a:prstGeom prst="rect">
            <a:avLst/>
          </a:prstGeom>
          <a:noFill/>
        </p:spPr>
        <p:txBody>
          <a:bodyPr wrap="square" anchor="t"/>
          <a:lstStyle/>
          <a:p>
            <a:pPr algn="ctr">
              <a:lnSpc>
                <a:spcPts val="920"/>
              </a:lnSpc>
              <a:spcAft>
                <a:spcPts val="400"/>
              </a:spcAft>
              <a:defRPr sz="800" b="0">
                <a:solidFill>
                  <a:srgbClr val="6B6560"/>
                </a:solidFill>
                <a:latin typeface="Segoe UI" panose="020B0502040204020203"/>
              </a:defRPr>
            </a:pPr>
            <a:r>
              <a:t>Statistics</a:t>
            </a:r>
            <a:br/>
            <a:r>
              <a:t>ID: 8168379</a:t>
            </a:r>
          </a:p>
        </p:txBody>
      </p:sp>
      <p:sp>
        <p:nvSpPr>
          <p:cNvPr id="30" name="TextBox 29"/>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11</a:t>
            </a:r>
          </a:p>
        </p:txBody>
      </p:sp>
    </p:spTree>
  </p:cSld>
  <p:clrMapOvr>
    <a:masterClrMapping/>
  </p:clrMapOvr>
  <p:transition>
    <p:fade/>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Team SDG Assignments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Who worked on which goals, and why</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1097280" y="1645920"/>
          <a:ext cx="9994392" cy="3474720"/>
        </p:xfrm>
        <a:graphic>
          <a:graphicData uri="http://schemas.openxmlformats.org/drawingml/2006/table">
            <a:tbl>
              <a:tblPr firstRow="1" bandRow="1">
                <a:tableStyleId>{5C22544A-7EE6-4342-B048-85BDC9FD1C3A}</a:tableStyleId>
              </a:tblPr>
              <a:tblGrid>
                <a:gridCol w="1645920"/>
                <a:gridCol w="2286000"/>
                <a:gridCol w="4114800"/>
                <a:gridCol w="1947672"/>
              </a:tblGrid>
              <a:tr h="694944">
                <a:tc>
                  <a:txBody>
                    <a:bodyPr/>
                    <a:lstStyle/>
                    <a:p>
                      <a:pPr>
                        <a:defRPr sz="1400" b="1">
                          <a:solidFill>
                            <a:srgbClr val="FFFFFF"/>
                          </a:solidFill>
                          <a:latin typeface="Segoe UI" panose="020B0502040204020203"/>
                        </a:defRPr>
                      </a:pPr>
                      <a:r>
                        <a:t>Team Member</a:t>
                      </a:r>
                    </a:p>
                  </a:txBody>
                  <a:tcPr marL="101600" marR="76200" marT="101600" marB="101600" anchor="ctr">
                    <a:solidFill>
                      <a:srgbClr val="0D0D18"/>
                    </a:solidFill>
                  </a:tcPr>
                </a:tc>
                <a:tc>
                  <a:txBody>
                    <a:bodyPr/>
                    <a:lstStyle/>
                    <a:p>
                      <a:pPr>
                        <a:defRPr sz="1400" b="1">
                          <a:solidFill>
                            <a:srgbClr val="FFFFFF"/>
                          </a:solidFill>
                          <a:latin typeface="Segoe UI" panose="020B0502040204020203"/>
                        </a:defRPr>
                      </a:pPr>
                      <a:r>
                        <a:t>Assigned SDGs</a:t>
                      </a:r>
                    </a:p>
                  </a:txBody>
                  <a:tcPr marL="101600" marR="76200" marT="101600" marB="101600" anchor="ctr">
                    <a:solidFill>
                      <a:srgbClr val="0D0D18"/>
                    </a:solidFill>
                  </a:tcPr>
                </a:tc>
                <a:tc>
                  <a:txBody>
                    <a:bodyPr/>
                    <a:lstStyle/>
                    <a:p>
                      <a:pPr>
                        <a:defRPr sz="1400" b="1">
                          <a:solidFill>
                            <a:srgbClr val="FFFFFF"/>
                          </a:solidFill>
                          <a:latin typeface="Segoe UI" panose="020B0502040204020203"/>
                        </a:defRPr>
                      </a:pPr>
                      <a:r>
                        <a:t>Rationale for Assignment</a:t>
                      </a:r>
                    </a:p>
                  </a:txBody>
                  <a:tcPr marL="101600" marR="76200" marT="101600" marB="101600" anchor="ctr">
                    <a:solidFill>
                      <a:srgbClr val="0D0D18"/>
                    </a:solidFill>
                  </a:tcPr>
                </a:tc>
                <a:tc>
                  <a:txBody>
                    <a:bodyPr/>
                    <a:lstStyle/>
                    <a:p>
                      <a:pPr>
                        <a:defRPr sz="1400" b="1">
                          <a:solidFill>
                            <a:srgbClr val="FFFFFF"/>
                          </a:solidFill>
                          <a:latin typeface="Segoe UI" panose="020B0502040204020203"/>
                        </a:defRPr>
                      </a:pPr>
                      <a:r>
                        <a:t>Academic Background</a:t>
                      </a:r>
                    </a:p>
                  </a:txBody>
                  <a:tcPr marL="101600" marR="76200" marT="101600" marB="101600" anchor="ctr">
                    <a:solidFill>
                      <a:srgbClr val="0D0D18"/>
                    </a:solidFill>
                  </a:tcPr>
                </a:tc>
              </a:tr>
              <a:tr h="694944">
                <a:tc>
                  <a:txBody>
                    <a:bodyPr/>
                    <a:lstStyle/>
                    <a:p>
                      <a:pPr>
                        <a:defRPr sz="1100">
                          <a:solidFill>
                            <a:srgbClr val="1C1C24"/>
                          </a:solidFill>
                          <a:latin typeface="Segoe UI" panose="020B0502040204020203"/>
                        </a:defRPr>
                      </a:pPr>
                      <a:r>
                        <a:t>Li Shuhang</a:t>
                      </a:r>
                    </a:p>
                  </a:txBody>
                  <a:tcPr marL="101600" marR="76200" marT="63500" marB="63500" anchor="ctr">
                    <a:solidFill>
                      <a:srgbClr val="F9F7F4"/>
                    </a:solidFill>
                  </a:tcPr>
                </a:tc>
                <a:tc>
                  <a:txBody>
                    <a:bodyPr/>
                    <a:lstStyle/>
                    <a:p>
                      <a:pPr>
                        <a:defRPr sz="1100">
                          <a:solidFill>
                            <a:srgbClr val="1C1C24"/>
                          </a:solidFill>
                          <a:latin typeface="Segoe UI" panose="020B0502040204020203"/>
                        </a:defRPr>
                      </a:pPr>
                      <a:r>
                        <a:t>SDG 6, 7, 13, 14, 15</a:t>
                      </a:r>
                    </a:p>
                  </a:txBody>
                  <a:tcPr marL="101600" marR="76200" marT="63500" marB="63500" anchor="ctr">
                    <a:solidFill>
                      <a:srgbClr val="F9F7F4"/>
                    </a:solidFill>
                  </a:tcPr>
                </a:tc>
                <a:tc>
                  <a:txBody>
                    <a:bodyPr/>
                    <a:lstStyle/>
                    <a:p>
                      <a:pPr>
                        <a:defRPr sz="1100">
                          <a:solidFill>
                            <a:srgbClr val="1C1C24"/>
                          </a:solidFill>
                          <a:latin typeface="Segoe UI" panose="020B0502040204020203"/>
                        </a:defRPr>
                      </a:pPr>
                      <a:r>
                        <a:t>Environmental science expertise aligns directly with planet-focused goals covering water, energy, climate, and ecosystems</a:t>
                      </a:r>
                    </a:p>
                  </a:txBody>
                  <a:tcPr marL="101600" marR="76200" marT="63500" marB="63500" anchor="ctr">
                    <a:solidFill>
                      <a:srgbClr val="F9F7F4"/>
                    </a:solidFill>
                  </a:tcPr>
                </a:tc>
                <a:tc>
                  <a:txBody>
                    <a:bodyPr/>
                    <a:lstStyle/>
                    <a:p>
                      <a:pPr>
                        <a:defRPr sz="1100">
                          <a:solidFill>
                            <a:srgbClr val="1C1C24"/>
                          </a:solidFill>
                          <a:latin typeface="Segoe UI" panose="020B0502040204020203"/>
                        </a:defRPr>
                      </a:pPr>
                      <a:r>
                        <a:t>Environmental Science</a:t>
                      </a:r>
                    </a:p>
                  </a:txBody>
                  <a:tcPr marL="101600" marR="76200" marT="63500" marB="63500" anchor="ctr">
                    <a:solidFill>
                      <a:srgbClr val="F9F7F4"/>
                    </a:solidFill>
                  </a:tcPr>
                </a:tc>
              </a:tr>
              <a:tr h="694944">
                <a:tc>
                  <a:txBody>
                    <a:bodyPr/>
                    <a:lstStyle/>
                    <a:p>
                      <a:pPr>
                        <a:defRPr sz="1100">
                          <a:solidFill>
                            <a:srgbClr val="1C1C24"/>
                          </a:solidFill>
                          <a:latin typeface="Segoe UI" panose="020B0502040204020203"/>
                        </a:defRPr>
                      </a:pPr>
                      <a:r>
                        <a:t>Feng Jingyi</a:t>
                      </a:r>
                    </a:p>
                  </a:txBody>
                  <a:tcPr marL="101600" marR="76200" marT="63500" marB="63500" anchor="ctr"/>
                </a:tc>
                <a:tc>
                  <a:txBody>
                    <a:bodyPr/>
                    <a:lstStyle/>
                    <a:p>
                      <a:pPr>
                        <a:defRPr sz="1100">
                          <a:solidFill>
                            <a:srgbClr val="1C1C24"/>
                          </a:solidFill>
                          <a:latin typeface="Segoe UI" panose="020B0502040204020203"/>
                        </a:defRPr>
                      </a:pPr>
                      <a:r>
                        <a:t>SDG 8, 9, 11, 12</a:t>
                      </a:r>
                    </a:p>
                  </a:txBody>
                  <a:tcPr marL="101600" marR="76200" marT="63500" marB="63500" anchor="ctr"/>
                </a:tc>
                <a:tc>
                  <a:txBody>
                    <a:bodyPr/>
                    <a:lstStyle/>
                    <a:p>
                      <a:pPr>
                        <a:defRPr sz="1100">
                          <a:solidFill>
                            <a:srgbClr val="1C1C24"/>
                          </a:solidFill>
                          <a:latin typeface="Segoe UI" panose="020B0502040204020203"/>
                        </a:defRPr>
                      </a:pPr>
                      <a:r>
                        <a:t>Computer science background drives technology-enabled solutions for sustainable industry, smart cities, and responsible consumption</a:t>
                      </a:r>
                    </a:p>
                  </a:txBody>
                  <a:tcPr marL="101600" marR="76200" marT="63500" marB="63500" anchor="ctr"/>
                </a:tc>
                <a:tc>
                  <a:txBody>
                    <a:bodyPr/>
                    <a:lstStyle/>
                    <a:p>
                      <a:pPr>
                        <a:defRPr sz="1100">
                          <a:solidFill>
                            <a:srgbClr val="1C1C24"/>
                          </a:solidFill>
                          <a:latin typeface="Segoe UI" panose="020B0502040204020203"/>
                        </a:defRPr>
                      </a:pPr>
                      <a:r>
                        <a:t>Computer Science</a:t>
                      </a:r>
                    </a:p>
                  </a:txBody>
                  <a:tcPr marL="101600" marR="76200" marT="63500" marB="63500" anchor="ctr"/>
                </a:tc>
              </a:tr>
              <a:tr h="694944">
                <a:tc>
                  <a:txBody>
                    <a:bodyPr/>
                    <a:lstStyle/>
                    <a:p>
                      <a:pPr>
                        <a:defRPr sz="1100">
                          <a:solidFill>
                            <a:srgbClr val="1C1C24"/>
                          </a:solidFill>
                          <a:latin typeface="Segoe UI" panose="020B0502040204020203"/>
                        </a:defRPr>
                      </a:pPr>
                      <a:r>
                        <a:t>Wang Luyang</a:t>
                      </a:r>
                    </a:p>
                  </a:txBody>
                  <a:tcPr marL="101600" marR="76200" marT="63500" marB="63500" anchor="ctr">
                    <a:solidFill>
                      <a:srgbClr val="F9F7F4"/>
                    </a:solidFill>
                  </a:tcPr>
                </a:tc>
                <a:tc>
                  <a:txBody>
                    <a:bodyPr/>
                    <a:lstStyle/>
                    <a:p>
                      <a:pPr>
                        <a:defRPr sz="1100">
                          <a:solidFill>
                            <a:srgbClr val="1C1C24"/>
                          </a:solidFill>
                          <a:latin typeface="Segoe UI" panose="020B0502040204020203"/>
                        </a:defRPr>
                      </a:pPr>
                      <a:r>
                        <a:t>SDG 1, 2, 5, 10, 16</a:t>
                      </a:r>
                    </a:p>
                  </a:txBody>
                  <a:tcPr marL="101600" marR="76200" marT="63500" marB="63500" anchor="ctr">
                    <a:solidFill>
                      <a:srgbClr val="F9F7F4"/>
                    </a:solidFill>
                  </a:tcPr>
                </a:tc>
                <a:tc>
                  <a:txBody>
                    <a:bodyPr/>
                    <a:lstStyle/>
                    <a:p>
                      <a:pPr>
                        <a:defRPr sz="1100">
                          <a:solidFill>
                            <a:srgbClr val="1C1C24"/>
                          </a:solidFill>
                          <a:latin typeface="Segoe UI" panose="020B0502040204020203"/>
                        </a:defRPr>
                      </a:pPr>
                      <a:r>
                        <a:t>International affairs knowledge underpins equity, justice, and human dignity goals across poverty, hunger, and gender equality</a:t>
                      </a:r>
                    </a:p>
                  </a:txBody>
                  <a:tcPr marL="101600" marR="76200" marT="63500" marB="63500" anchor="ctr">
                    <a:solidFill>
                      <a:srgbClr val="F9F7F4"/>
                    </a:solidFill>
                  </a:tcPr>
                </a:tc>
                <a:tc>
                  <a:txBody>
                    <a:bodyPr/>
                    <a:lstStyle/>
                    <a:p>
                      <a:pPr>
                        <a:defRPr sz="1100">
                          <a:solidFill>
                            <a:srgbClr val="1C1C24"/>
                          </a:solidFill>
                          <a:latin typeface="Segoe UI" panose="020B0502040204020203"/>
                        </a:defRPr>
                      </a:pPr>
                      <a:r>
                        <a:t>International Affairs</a:t>
                      </a:r>
                    </a:p>
                  </a:txBody>
                  <a:tcPr marL="101600" marR="76200" marT="63500" marB="63500" anchor="ctr">
                    <a:solidFill>
                      <a:srgbClr val="F9F7F4"/>
                    </a:solidFill>
                  </a:tcPr>
                </a:tc>
              </a:tr>
              <a:tr h="694944">
                <a:tc>
                  <a:txBody>
                    <a:bodyPr/>
                    <a:lstStyle/>
                    <a:p>
                      <a:pPr>
                        <a:defRPr sz="1100">
                          <a:solidFill>
                            <a:srgbClr val="1C1C24"/>
                          </a:solidFill>
                          <a:latin typeface="Segoe UI" panose="020B0502040204020203"/>
                        </a:defRPr>
                      </a:pPr>
                      <a:r>
                        <a:t>Lu Jianning</a:t>
                      </a:r>
                    </a:p>
                  </a:txBody>
                  <a:tcPr marL="101600" marR="76200" marT="63500" marB="63500" anchor="ctr"/>
                </a:tc>
                <a:tc>
                  <a:txBody>
                    <a:bodyPr/>
                    <a:lstStyle/>
                    <a:p>
                      <a:pPr>
                        <a:defRPr sz="1100">
                          <a:solidFill>
                            <a:srgbClr val="1C1C24"/>
                          </a:solidFill>
                          <a:latin typeface="Segoe UI" panose="020B0502040204020203"/>
                        </a:defRPr>
                      </a:pPr>
                      <a:r>
                        <a:t>SDG 3, 4, 17</a:t>
                      </a:r>
                    </a:p>
                  </a:txBody>
                  <a:tcPr marL="101600" marR="76200" marT="63500" marB="63500" anchor="ctr"/>
                </a:tc>
                <a:tc>
                  <a:txBody>
                    <a:bodyPr/>
                    <a:lstStyle/>
                    <a:p>
                      <a:pPr>
                        <a:defRPr sz="1100">
                          <a:solidFill>
                            <a:srgbClr val="1C1C24"/>
                          </a:solidFill>
                          <a:latin typeface="Segoe UI" panose="020B0502040204020203"/>
                        </a:defRPr>
                      </a:pPr>
                      <a:r>
                        <a:t>Statistical analysis skills enable rigorous data-driven approaches to health, education outcomes, and partnership metrics</a:t>
                      </a:r>
                    </a:p>
                  </a:txBody>
                  <a:tcPr marL="101600" marR="76200" marT="63500" marB="63500" anchor="ctr"/>
                </a:tc>
                <a:tc>
                  <a:txBody>
                    <a:bodyPr/>
                    <a:lstStyle/>
                    <a:p>
                      <a:pPr>
                        <a:defRPr sz="1100">
                          <a:solidFill>
                            <a:srgbClr val="1C1C24"/>
                          </a:solidFill>
                          <a:latin typeface="Segoe UI" panose="020B0502040204020203"/>
                        </a:defRPr>
                      </a:pPr>
                      <a:r>
                        <a:t>Statistics</a:t>
                      </a:r>
                    </a:p>
                  </a:txBody>
                  <a:tcPr marL="101600" marR="76200" marT="63500" marB="63500" anchor="ctr"/>
                </a:tc>
              </a:tr>
            </a:tbl>
          </a:graphicData>
        </a:graphic>
      </p:graphicFrame>
      <p:sp>
        <p:nvSpPr>
          <p:cNvPr id="7" name="TextBox 6"/>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12</a:t>
            </a:r>
          </a:p>
        </p:txBody>
      </p:sp>
    </p:spTree>
  </p:cSld>
  <p:clrMapOvr>
    <a:masterClrMapping/>
  </p:clrMapOvr>
  <p:transition>
    <p:fade/>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What We're Trying to Do</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The point of this project, honestly stated</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08760"/>
            <a:ext cx="4617720" cy="196596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1508760"/>
            <a:ext cx="54864" cy="196596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69164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What We Set Out to Do</a:t>
            </a:r>
          </a:p>
        </p:txBody>
      </p:sp>
      <p:sp>
        <p:nvSpPr>
          <p:cNvPr id="9" name="TextBox 8"/>
          <p:cNvSpPr txBox="1"/>
          <p:nvPr/>
        </p:nvSpPr>
        <p:spPr>
          <a:xfrm>
            <a:off x="1417320" y="2148840"/>
            <a:ext cx="4114800" cy="114300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Build a website that explains all 17 SDGs clearly, includes an interactive carbon calculator people can actually use, and shows how individual choices connect to global issues. Nothing revolutionary — just making the information accessible.</a:t>
            </a:r>
          </a:p>
        </p:txBody>
      </p:sp>
      <p:sp>
        <p:nvSpPr>
          <p:cNvPr id="10" name="Rounded Rectangle 9"/>
          <p:cNvSpPr/>
          <p:nvPr/>
        </p:nvSpPr>
        <p:spPr>
          <a:xfrm>
            <a:off x="6035040" y="1508760"/>
            <a:ext cx="4617720" cy="196596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508760"/>
            <a:ext cx="54864" cy="196596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69164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What We'd Like to See</a:t>
            </a:r>
          </a:p>
        </p:txBody>
      </p:sp>
      <p:sp>
        <p:nvSpPr>
          <p:cNvPr id="13" name="TextBox 12"/>
          <p:cNvSpPr txBox="1"/>
          <p:nvPr/>
        </p:nvSpPr>
        <p:spPr>
          <a:xfrm>
            <a:off x="6355080" y="2148840"/>
            <a:ext cx="4114800" cy="114300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More people understanding that the SDGs aren't just for governments and NGOs. The choices we make every day — what we eat, how we get around, what we throw away — are directly connected to global sustainability. Small changes at scale matter.</a:t>
            </a:r>
          </a:p>
        </p:txBody>
      </p:sp>
      <p:sp>
        <p:nvSpPr>
          <p:cNvPr id="14" name="Rounded Rectangle 13"/>
          <p:cNvSpPr/>
          <p:nvPr/>
        </p:nvSpPr>
        <p:spPr>
          <a:xfrm>
            <a:off x="127238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36979" y="3977640"/>
            <a:ext cx="1911096" cy="228600"/>
          </a:xfrm>
          <a:prstGeom prst="rect">
            <a:avLst/>
          </a:prstGeom>
          <a:noFill/>
        </p:spPr>
        <p:txBody>
          <a:bodyPr wrap="square" anchor="t"/>
          <a:lstStyle/>
          <a:p>
            <a:pPr algn="l">
              <a:lnSpc>
                <a:spcPts val="1150"/>
              </a:lnSpc>
              <a:spcAft>
                <a:spcPts val="400"/>
              </a:spcAft>
              <a:defRPr sz="1000" b="1">
                <a:solidFill>
                  <a:srgbClr val="C48B5C"/>
                </a:solidFill>
                <a:latin typeface="Georgia" panose="02040502050405020303"/>
              </a:defRPr>
            </a:pPr>
            <a:r>
              <a:t>01</a:t>
            </a:r>
          </a:p>
        </p:txBody>
      </p:sp>
      <p:sp>
        <p:nvSpPr>
          <p:cNvPr id="16" name="TextBox 15"/>
          <p:cNvSpPr txBox="1"/>
          <p:nvPr/>
        </p:nvSpPr>
        <p:spPr>
          <a:xfrm>
            <a:off x="1436979" y="4187952"/>
            <a:ext cx="1911096" cy="32004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Make the SDGs Understandable</a:t>
            </a:r>
          </a:p>
        </p:txBody>
      </p:sp>
      <p:sp>
        <p:nvSpPr>
          <p:cNvPr id="17" name="TextBox 16"/>
          <p:cNvSpPr txBox="1"/>
          <p:nvPr/>
        </p:nvSpPr>
        <p:spPr>
          <a:xfrm>
            <a:off x="1436979" y="4553712"/>
            <a:ext cx="1911096" cy="96012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Most people have heard of the SDGs but can't name more than two. We wanted to build something that makes all 17 easy to explore.</a:t>
            </a:r>
          </a:p>
        </p:txBody>
      </p:sp>
      <p:sp>
        <p:nvSpPr>
          <p:cNvPr id="18" name="Rounded Rectangle 17"/>
          <p:cNvSpPr/>
          <p:nvPr/>
        </p:nvSpPr>
        <p:spPr>
          <a:xfrm>
            <a:off x="374126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05859" y="3977640"/>
            <a:ext cx="1911096" cy="228600"/>
          </a:xfrm>
          <a:prstGeom prst="rect">
            <a:avLst/>
          </a:prstGeom>
          <a:noFill/>
        </p:spPr>
        <p:txBody>
          <a:bodyPr wrap="square" anchor="t"/>
          <a:lstStyle/>
          <a:p>
            <a:pPr algn="l">
              <a:lnSpc>
                <a:spcPts val="1150"/>
              </a:lnSpc>
              <a:spcAft>
                <a:spcPts val="400"/>
              </a:spcAft>
              <a:defRPr sz="1000" b="1">
                <a:solidFill>
                  <a:srgbClr val="C48B5C"/>
                </a:solidFill>
                <a:latin typeface="Georgia" panose="02040502050405020303"/>
              </a:defRPr>
            </a:pPr>
            <a:r>
              <a:t>02</a:t>
            </a:r>
          </a:p>
        </p:txBody>
      </p:sp>
      <p:sp>
        <p:nvSpPr>
          <p:cNvPr id="20" name="TextBox 19"/>
          <p:cNvSpPr txBox="1"/>
          <p:nvPr/>
        </p:nvSpPr>
        <p:spPr>
          <a:xfrm>
            <a:off x="3905859" y="4187952"/>
            <a:ext cx="1911096" cy="32004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Give People Tools, Not Just Information</a:t>
            </a:r>
          </a:p>
        </p:txBody>
      </p:sp>
      <p:sp>
        <p:nvSpPr>
          <p:cNvPr id="21" name="TextBox 20"/>
          <p:cNvSpPr txBox="1"/>
          <p:nvPr/>
        </p:nvSpPr>
        <p:spPr>
          <a:xfrm>
            <a:off x="3905859" y="4553712"/>
            <a:ext cx="1911096" cy="96012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Reading about carbon footprints is one thing. Actually calculating yours and getting personalized tips is more useful.</a:t>
            </a:r>
          </a:p>
        </p:txBody>
      </p:sp>
      <p:sp>
        <p:nvSpPr>
          <p:cNvPr id="22" name="Rounded Rectangle 21"/>
          <p:cNvSpPr/>
          <p:nvPr/>
        </p:nvSpPr>
        <p:spPr>
          <a:xfrm>
            <a:off x="621014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4739" y="3977640"/>
            <a:ext cx="1911096" cy="228600"/>
          </a:xfrm>
          <a:prstGeom prst="rect">
            <a:avLst/>
          </a:prstGeom>
          <a:noFill/>
        </p:spPr>
        <p:txBody>
          <a:bodyPr wrap="square" anchor="t"/>
          <a:lstStyle/>
          <a:p>
            <a:pPr algn="l">
              <a:lnSpc>
                <a:spcPts val="1150"/>
              </a:lnSpc>
              <a:spcAft>
                <a:spcPts val="400"/>
              </a:spcAft>
              <a:defRPr sz="1000" b="1">
                <a:solidFill>
                  <a:srgbClr val="C48B5C"/>
                </a:solidFill>
                <a:latin typeface="Georgia" panose="02040502050405020303"/>
              </a:defRPr>
            </a:pPr>
            <a:r>
              <a:t>03</a:t>
            </a:r>
          </a:p>
        </p:txBody>
      </p:sp>
      <p:sp>
        <p:nvSpPr>
          <p:cNvPr id="24" name="TextBox 23"/>
          <p:cNvSpPr txBox="1"/>
          <p:nvPr/>
        </p:nvSpPr>
        <p:spPr>
          <a:xfrm>
            <a:off x="6374739" y="4187952"/>
            <a:ext cx="1911096" cy="32004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Work Across Disciplines</a:t>
            </a:r>
          </a:p>
        </p:txBody>
      </p:sp>
      <p:sp>
        <p:nvSpPr>
          <p:cNvPr id="25" name="TextBox 24"/>
          <p:cNvSpPr txBox="1"/>
          <p:nvPr/>
        </p:nvSpPr>
        <p:spPr>
          <a:xfrm>
            <a:off x="6374739" y="4553712"/>
            <a:ext cx="1911096" cy="96012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You can't understand the SDGs from just one angle. Our team covers environmental science, CS, international affairs, and statistics.</a:t>
            </a:r>
          </a:p>
        </p:txBody>
      </p:sp>
      <p:sp>
        <p:nvSpPr>
          <p:cNvPr id="26" name="Rounded Rectangle 25"/>
          <p:cNvSpPr/>
          <p:nvPr/>
        </p:nvSpPr>
        <p:spPr>
          <a:xfrm>
            <a:off x="867902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3619" y="3977640"/>
            <a:ext cx="1911096" cy="228600"/>
          </a:xfrm>
          <a:prstGeom prst="rect">
            <a:avLst/>
          </a:prstGeom>
          <a:noFill/>
        </p:spPr>
        <p:txBody>
          <a:bodyPr wrap="square" anchor="t"/>
          <a:lstStyle/>
          <a:p>
            <a:pPr algn="l">
              <a:lnSpc>
                <a:spcPts val="1150"/>
              </a:lnSpc>
              <a:spcAft>
                <a:spcPts val="400"/>
              </a:spcAft>
              <a:defRPr sz="1000" b="1">
                <a:solidFill>
                  <a:srgbClr val="C48B5C"/>
                </a:solidFill>
                <a:latin typeface="Georgia" panose="02040502050405020303"/>
              </a:defRPr>
            </a:pPr>
            <a:r>
              <a:t>04</a:t>
            </a:r>
          </a:p>
        </p:txBody>
      </p:sp>
      <p:sp>
        <p:nvSpPr>
          <p:cNvPr id="28" name="TextBox 27"/>
          <p:cNvSpPr txBox="1"/>
          <p:nvPr/>
        </p:nvSpPr>
        <p:spPr>
          <a:xfrm>
            <a:off x="8843619" y="4187952"/>
            <a:ext cx="1911096" cy="32004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Make It Relevant to Daily Life</a:t>
            </a:r>
          </a:p>
        </p:txBody>
      </p:sp>
      <p:sp>
        <p:nvSpPr>
          <p:cNvPr id="29" name="TextBox 28"/>
          <p:cNvSpPr txBox="1"/>
          <p:nvPr/>
        </p:nvSpPr>
        <p:spPr>
          <a:xfrm>
            <a:off x="8843619" y="4553712"/>
            <a:ext cx="1911096" cy="96012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Global goals feel abstract. We tried to connect each SDG to choices people actually make — what they eat, how they travel, what they buy.</a:t>
            </a:r>
          </a:p>
        </p:txBody>
      </p:sp>
      <p:sp>
        <p:nvSpPr>
          <p:cNvPr id="30" name="TextBox 29"/>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13</a:t>
            </a:r>
          </a:p>
        </p:txBody>
      </p:sp>
    </p:spTree>
  </p:cSld>
  <p:clrMapOvr>
    <a:masterClrMapping/>
  </p:clrMapOvr>
  <p:transition>
    <p:fade/>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Website Walkthrough</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A quick tour of the main pages we built</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8668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me.png"/>
          <p:cNvPicPr>
            <a:picLocks noChangeAspect="1"/>
          </p:cNvPicPr>
          <p:nvPr/>
        </p:nvPicPr>
        <p:blipFill>
          <a:blip r:embed="rId1"/>
          <a:stretch>
            <a:fillRect/>
          </a:stretch>
        </p:blipFill>
        <p:spPr>
          <a:xfrm>
            <a:off x="1404975" y="1572768"/>
            <a:ext cx="2112264" cy="1380744"/>
          </a:xfrm>
          <a:prstGeom prst="rect">
            <a:avLst/>
          </a:prstGeom>
        </p:spPr>
      </p:pic>
      <p:sp>
        <p:nvSpPr>
          <p:cNvPr id="8" name="TextBox 7"/>
          <p:cNvSpPr txBox="1"/>
          <p:nvPr/>
        </p:nvSpPr>
        <p:spPr>
          <a:xfrm>
            <a:off x="1386687" y="3035808"/>
            <a:ext cx="2148840" cy="27432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Homepage</a:t>
            </a:r>
          </a:p>
        </p:txBody>
      </p:sp>
      <p:sp>
        <p:nvSpPr>
          <p:cNvPr id="9" name="Rounded Rectangle 8"/>
          <p:cNvSpPr/>
          <p:nvPr/>
        </p:nvSpPr>
        <p:spPr>
          <a:xfrm>
            <a:off x="380984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dgs.png"/>
          <p:cNvPicPr>
            <a:picLocks noChangeAspect="1"/>
          </p:cNvPicPr>
          <p:nvPr/>
        </p:nvPicPr>
        <p:blipFill>
          <a:blip r:embed="rId2"/>
          <a:stretch>
            <a:fillRect/>
          </a:stretch>
        </p:blipFill>
        <p:spPr>
          <a:xfrm>
            <a:off x="3828135" y="1572768"/>
            <a:ext cx="2112264" cy="1380744"/>
          </a:xfrm>
          <a:prstGeom prst="rect">
            <a:avLst/>
          </a:prstGeom>
        </p:spPr>
      </p:pic>
      <p:sp>
        <p:nvSpPr>
          <p:cNvPr id="11" name="TextBox 10"/>
          <p:cNvSpPr txBox="1"/>
          <p:nvPr/>
        </p:nvSpPr>
        <p:spPr>
          <a:xfrm>
            <a:off x="3809847" y="3035808"/>
            <a:ext cx="2148840" cy="27432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SDGs Explorer</a:t>
            </a:r>
          </a:p>
        </p:txBody>
      </p:sp>
      <p:sp>
        <p:nvSpPr>
          <p:cNvPr id="12" name="Rounded Rectangle 11"/>
          <p:cNvSpPr/>
          <p:nvPr/>
        </p:nvSpPr>
        <p:spPr>
          <a:xfrm>
            <a:off x="623300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rbon.png"/>
          <p:cNvPicPr>
            <a:picLocks noChangeAspect="1"/>
          </p:cNvPicPr>
          <p:nvPr/>
        </p:nvPicPr>
        <p:blipFill>
          <a:blip r:embed="rId3"/>
          <a:stretch>
            <a:fillRect/>
          </a:stretch>
        </p:blipFill>
        <p:spPr>
          <a:xfrm>
            <a:off x="6251295" y="1572768"/>
            <a:ext cx="2112264" cy="1380744"/>
          </a:xfrm>
          <a:prstGeom prst="rect">
            <a:avLst/>
          </a:prstGeom>
        </p:spPr>
      </p:pic>
      <p:sp>
        <p:nvSpPr>
          <p:cNvPr id="14" name="TextBox 13"/>
          <p:cNvSpPr txBox="1"/>
          <p:nvPr/>
        </p:nvSpPr>
        <p:spPr>
          <a:xfrm>
            <a:off x="6233007" y="3035808"/>
            <a:ext cx="2148840" cy="27432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Carbon Calculator</a:t>
            </a:r>
          </a:p>
        </p:txBody>
      </p:sp>
      <p:sp>
        <p:nvSpPr>
          <p:cNvPr id="15" name="Rounded Rectangle 14"/>
          <p:cNvSpPr/>
          <p:nvPr/>
        </p:nvSpPr>
        <p:spPr>
          <a:xfrm>
            <a:off x="865616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ctnow.png"/>
          <p:cNvPicPr>
            <a:picLocks noChangeAspect="1"/>
          </p:cNvPicPr>
          <p:nvPr/>
        </p:nvPicPr>
        <p:blipFill>
          <a:blip r:embed="rId4"/>
          <a:stretch>
            <a:fillRect/>
          </a:stretch>
        </p:blipFill>
        <p:spPr>
          <a:xfrm>
            <a:off x="8674455" y="1572768"/>
            <a:ext cx="2112264" cy="1380744"/>
          </a:xfrm>
          <a:prstGeom prst="rect">
            <a:avLst/>
          </a:prstGeom>
        </p:spPr>
      </p:pic>
      <p:sp>
        <p:nvSpPr>
          <p:cNvPr id="17" name="TextBox 16"/>
          <p:cNvSpPr txBox="1"/>
          <p:nvPr/>
        </p:nvSpPr>
        <p:spPr>
          <a:xfrm>
            <a:off x="8656167" y="3035808"/>
            <a:ext cx="2148840" cy="274320"/>
          </a:xfrm>
          <a:prstGeom prst="rect">
            <a:avLst/>
          </a:prstGeom>
          <a:noFill/>
        </p:spPr>
        <p:txBody>
          <a:bodyPr wrap="square" anchor="t"/>
          <a:lstStyle/>
          <a:p>
            <a:pPr algn="ctr">
              <a:lnSpc>
                <a:spcPts val="1380"/>
              </a:lnSpc>
              <a:spcAft>
                <a:spcPts val="400"/>
              </a:spcAft>
              <a:defRPr sz="1200" b="1">
                <a:solidFill>
                  <a:srgbClr val="1C1C24"/>
                </a:solidFill>
                <a:latin typeface="Georgia" panose="02040502050405020303"/>
              </a:defRPr>
            </a:pPr>
            <a:r>
              <a:t>Act Now</a:t>
            </a:r>
          </a:p>
        </p:txBody>
      </p:sp>
      <p:sp>
        <p:nvSpPr>
          <p:cNvPr id="18" name="TextBox 17"/>
          <p:cNvSpPr txBox="1"/>
          <p:nvPr/>
        </p:nvSpPr>
        <p:spPr>
          <a:xfrm>
            <a:off x="1097280" y="5029200"/>
            <a:ext cx="9997135" cy="274320"/>
          </a:xfrm>
          <a:prstGeom prst="rect">
            <a:avLst/>
          </a:prstGeom>
          <a:noFill/>
        </p:spPr>
        <p:txBody>
          <a:bodyPr wrap="square" anchor="t"/>
          <a:lstStyle/>
          <a:p>
            <a:pPr algn="ctr">
              <a:lnSpc>
                <a:spcPts val="1265"/>
              </a:lnSpc>
              <a:spcAft>
                <a:spcPts val="400"/>
              </a:spcAft>
              <a:defRPr sz="1100" b="1">
                <a:solidFill>
                  <a:srgbClr val="C48B5C"/>
                </a:solidFill>
                <a:latin typeface="Segoe UI" panose="020B0502040204020203"/>
              </a:defRPr>
            </a:pPr>
            <a:r>
              <a:t>Built with: Vue 3 + TypeScript + Vue Router 4 + GSAP + Vite 6</a:t>
            </a:r>
          </a:p>
        </p:txBody>
      </p:sp>
      <p:sp>
        <p:nvSpPr>
          <p:cNvPr id="19" name="TextBox 18"/>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14</a:t>
            </a:r>
          </a:p>
        </p:txBody>
      </p:sp>
    </p:spTree>
  </p:cSld>
  <p:clrMapOvr>
    <a:masterClrMapping/>
  </p:clrMapOvr>
  <p:transition>
    <p:fade/>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Carbon Footprint Calculator</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How our interactive calculator estimates your annual CO₂ emissions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4952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32407" y="1645920"/>
            <a:ext cx="1920240" cy="274320"/>
          </a:xfrm>
          <a:prstGeom prst="rect">
            <a:avLst/>
          </a:prstGeom>
          <a:noFill/>
        </p:spPr>
        <p:txBody>
          <a:bodyPr wrap="square" anchor="t"/>
          <a:lstStyle/>
          <a:p>
            <a:pPr algn="l">
              <a:lnSpc>
                <a:spcPts val="1610"/>
              </a:lnSpc>
              <a:spcAft>
                <a:spcPts val="400"/>
              </a:spcAft>
              <a:defRPr sz="1400" b="1">
                <a:solidFill>
                  <a:srgbClr val="C48B5C"/>
                </a:solidFill>
                <a:latin typeface="Georgia" panose="02040502050405020303"/>
              </a:defRPr>
            </a:pPr>
            <a:r>
              <a:t>  Transportation</a:t>
            </a:r>
          </a:p>
        </p:txBody>
      </p:sp>
      <p:sp>
        <p:nvSpPr>
          <p:cNvPr id="8" name="TextBox 7"/>
          <p:cNvSpPr txBox="1"/>
          <p:nvPr/>
        </p:nvSpPr>
        <p:spPr>
          <a:xfrm>
            <a:off x="1432407" y="2011680"/>
            <a:ext cx="1920240" cy="274320"/>
          </a:xfrm>
          <a:prstGeom prst="rect">
            <a:avLst/>
          </a:prstGeom>
          <a:noFill/>
        </p:spPr>
        <p:txBody>
          <a:bodyPr wrap="square" anchor="t"/>
          <a:lstStyle/>
          <a:p>
            <a:pPr algn="l">
              <a:lnSpc>
                <a:spcPts val="1035"/>
              </a:lnSpc>
              <a:spcAft>
                <a:spcPts val="400"/>
              </a:spcAft>
              <a:defRPr sz="900" b="0">
                <a:solidFill>
                  <a:srgbClr val="6B6560"/>
                </a:solidFill>
                <a:latin typeface="Segoe UI" panose="020B0502040204020203"/>
              </a:defRPr>
            </a:pPr>
          </a:p>
          <a:p>
            <a:pPr algn="l">
              <a:lnSpc>
                <a:spcPts val="1035"/>
              </a:lnSpc>
              <a:spcAft>
                <a:spcPts val="400"/>
              </a:spcAft>
              <a:defRPr sz="900" b="0">
                <a:solidFill>
                  <a:srgbClr val="6B6560"/>
                </a:solidFill>
                <a:latin typeface="Segoe UI" panose="020B0502040204020203"/>
              </a:defRPr>
            </a:pPr>
            <a:r>
              <a:t>•  Private car: 0.2 kg CO₂ per km</a:t>
            </a:r>
          </a:p>
          <a:p>
            <a:pPr algn="l">
              <a:lnSpc>
                <a:spcPts val="1035"/>
              </a:lnSpc>
              <a:spcAft>
                <a:spcPts val="400"/>
              </a:spcAft>
              <a:defRPr sz="900" b="0">
                <a:solidFill>
                  <a:srgbClr val="6B6560"/>
                </a:solidFill>
                <a:latin typeface="Segoe UI" panose="020B0502040204020203"/>
              </a:defRPr>
            </a:pPr>
            <a:r>
              <a:t>•  Public transport: 0.05 kg CO₂ per km</a:t>
            </a:r>
          </a:p>
          <a:p>
            <a:pPr algn="l">
              <a:lnSpc>
                <a:spcPts val="1035"/>
              </a:lnSpc>
              <a:spcAft>
                <a:spcPts val="400"/>
              </a:spcAft>
              <a:defRPr sz="900" b="0">
                <a:solidFill>
                  <a:srgbClr val="6B6560"/>
                </a:solidFill>
                <a:latin typeface="Segoe UI" panose="020B0502040204020203"/>
              </a:defRPr>
            </a:pPr>
            <a:r>
              <a:t>•  Air travel: 250 kg CO₂ per flight</a:t>
            </a:r>
          </a:p>
          <a:p>
            <a:pPr algn="l">
              <a:lnSpc>
                <a:spcPts val="1035"/>
              </a:lnSpc>
              <a:spcAft>
                <a:spcPts val="400"/>
              </a:spcAft>
              <a:defRPr sz="900" b="0">
                <a:solidFill>
                  <a:srgbClr val="6B6560"/>
                </a:solidFill>
                <a:latin typeface="Segoe UI" panose="020B0502040204020203"/>
              </a:defRPr>
            </a:pPr>
            <a:r>
              <a:t>•  Short-haul flights are worse per km than long-haul</a:t>
            </a:r>
          </a:p>
        </p:txBody>
      </p:sp>
      <p:sp>
        <p:nvSpPr>
          <p:cNvPr id="9" name="Rounded Rectangle 8"/>
          <p:cNvSpPr/>
          <p:nvPr/>
        </p:nvSpPr>
        <p:spPr>
          <a:xfrm>
            <a:off x="371840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01287" y="1645920"/>
            <a:ext cx="1920240" cy="274320"/>
          </a:xfrm>
          <a:prstGeom prst="rect">
            <a:avLst/>
          </a:prstGeom>
          <a:noFill/>
        </p:spPr>
        <p:txBody>
          <a:bodyPr wrap="square" anchor="t"/>
          <a:lstStyle/>
          <a:p>
            <a:pPr algn="l">
              <a:lnSpc>
                <a:spcPts val="1610"/>
              </a:lnSpc>
              <a:spcAft>
                <a:spcPts val="400"/>
              </a:spcAft>
              <a:defRPr sz="1400" b="1">
                <a:solidFill>
                  <a:srgbClr val="C48B5C"/>
                </a:solidFill>
                <a:latin typeface="Georgia" panose="02040502050405020303"/>
              </a:defRPr>
            </a:pPr>
            <a:r>
              <a:t>  Energy</a:t>
            </a:r>
          </a:p>
        </p:txBody>
      </p:sp>
      <p:sp>
        <p:nvSpPr>
          <p:cNvPr id="11" name="TextBox 10"/>
          <p:cNvSpPr txBox="1"/>
          <p:nvPr/>
        </p:nvSpPr>
        <p:spPr>
          <a:xfrm>
            <a:off x="3901287" y="2011680"/>
            <a:ext cx="1920240" cy="274320"/>
          </a:xfrm>
          <a:prstGeom prst="rect">
            <a:avLst/>
          </a:prstGeom>
          <a:noFill/>
        </p:spPr>
        <p:txBody>
          <a:bodyPr wrap="square" anchor="t"/>
          <a:lstStyle/>
          <a:p>
            <a:pPr algn="l">
              <a:lnSpc>
                <a:spcPts val="1035"/>
              </a:lnSpc>
              <a:spcAft>
                <a:spcPts val="400"/>
              </a:spcAft>
              <a:defRPr sz="900" b="0">
                <a:solidFill>
                  <a:srgbClr val="6B6560"/>
                </a:solidFill>
                <a:latin typeface="Segoe UI" panose="020B0502040204020203"/>
              </a:defRPr>
            </a:pPr>
          </a:p>
          <a:p>
            <a:pPr algn="l">
              <a:lnSpc>
                <a:spcPts val="1035"/>
              </a:lnSpc>
              <a:spcAft>
                <a:spcPts val="400"/>
              </a:spcAft>
              <a:defRPr sz="900" b="0">
                <a:solidFill>
                  <a:srgbClr val="6B6560"/>
                </a:solidFill>
                <a:latin typeface="Segoe UI" panose="020B0502040204020203"/>
              </a:defRPr>
            </a:pPr>
            <a:r>
              <a:t>•  Electricity: 0.5 kg CO₂ per kWh</a:t>
            </a:r>
          </a:p>
          <a:p>
            <a:pPr algn="l">
              <a:lnSpc>
                <a:spcPts val="1035"/>
              </a:lnSpc>
              <a:spcAft>
                <a:spcPts val="400"/>
              </a:spcAft>
              <a:defRPr sz="900" b="0">
                <a:solidFill>
                  <a:srgbClr val="6B6560"/>
                </a:solidFill>
                <a:latin typeface="Segoe UI" panose="020B0502040204020203"/>
              </a:defRPr>
            </a:pPr>
            <a:r>
              <a:t>•  Natural gas: 2.3 kg CO₂ per m³</a:t>
            </a:r>
          </a:p>
          <a:p>
            <a:pPr algn="l">
              <a:lnSpc>
                <a:spcPts val="1035"/>
              </a:lnSpc>
              <a:spcAft>
                <a:spcPts val="400"/>
              </a:spcAft>
              <a:defRPr sz="900" b="0">
                <a:solidFill>
                  <a:srgbClr val="6B6560"/>
                </a:solidFill>
                <a:latin typeface="Segoe UI" panose="020B0502040204020203"/>
              </a:defRPr>
            </a:pPr>
            <a:r>
              <a:t>•  Heating: 1.8 kg CO₂ per unit</a:t>
            </a:r>
          </a:p>
          <a:p>
            <a:pPr algn="l">
              <a:lnSpc>
                <a:spcPts val="1035"/>
              </a:lnSpc>
              <a:spcAft>
                <a:spcPts val="400"/>
              </a:spcAft>
              <a:defRPr sz="900" b="0">
                <a:solidFill>
                  <a:srgbClr val="6B6560"/>
                </a:solidFill>
                <a:latin typeface="Segoe UI" panose="020B0502040204020203"/>
              </a:defRPr>
            </a:pPr>
            <a:r>
              <a:t>•  Switching to renewables cuts this category most</a:t>
            </a:r>
          </a:p>
        </p:txBody>
      </p:sp>
      <p:sp>
        <p:nvSpPr>
          <p:cNvPr id="12" name="Rounded Rectangle 11"/>
          <p:cNvSpPr/>
          <p:nvPr/>
        </p:nvSpPr>
        <p:spPr>
          <a:xfrm>
            <a:off x="618728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0167" y="1645920"/>
            <a:ext cx="1920240" cy="274320"/>
          </a:xfrm>
          <a:prstGeom prst="rect">
            <a:avLst/>
          </a:prstGeom>
          <a:noFill/>
        </p:spPr>
        <p:txBody>
          <a:bodyPr wrap="square" anchor="t"/>
          <a:lstStyle/>
          <a:p>
            <a:pPr algn="l">
              <a:lnSpc>
                <a:spcPts val="1610"/>
              </a:lnSpc>
              <a:spcAft>
                <a:spcPts val="400"/>
              </a:spcAft>
              <a:defRPr sz="1400" b="1">
                <a:solidFill>
                  <a:srgbClr val="C48B5C"/>
                </a:solidFill>
                <a:latin typeface="Georgia" panose="02040502050405020303"/>
              </a:defRPr>
            </a:pPr>
            <a:r>
              <a:t>  Food</a:t>
            </a:r>
          </a:p>
        </p:txBody>
      </p:sp>
      <p:sp>
        <p:nvSpPr>
          <p:cNvPr id="14" name="TextBox 13"/>
          <p:cNvSpPr txBox="1"/>
          <p:nvPr/>
        </p:nvSpPr>
        <p:spPr>
          <a:xfrm>
            <a:off x="6370167" y="2011680"/>
            <a:ext cx="1920240" cy="274320"/>
          </a:xfrm>
          <a:prstGeom prst="rect">
            <a:avLst/>
          </a:prstGeom>
          <a:noFill/>
        </p:spPr>
        <p:txBody>
          <a:bodyPr wrap="square" anchor="t"/>
          <a:lstStyle/>
          <a:p>
            <a:pPr algn="l">
              <a:lnSpc>
                <a:spcPts val="1035"/>
              </a:lnSpc>
              <a:spcAft>
                <a:spcPts val="400"/>
              </a:spcAft>
              <a:defRPr sz="900" b="0">
                <a:solidFill>
                  <a:srgbClr val="6B6560"/>
                </a:solidFill>
                <a:latin typeface="Segoe UI" panose="020B0502040204020203"/>
              </a:defRPr>
            </a:pPr>
          </a:p>
          <a:p>
            <a:pPr algn="l">
              <a:lnSpc>
                <a:spcPts val="1035"/>
              </a:lnSpc>
              <a:spcAft>
                <a:spcPts val="400"/>
              </a:spcAft>
              <a:defRPr sz="900" b="0">
                <a:solidFill>
                  <a:srgbClr val="6B6560"/>
                </a:solidFill>
                <a:latin typeface="Segoe UI" panose="020B0502040204020203"/>
              </a:defRPr>
            </a:pPr>
            <a:r>
              <a:t>•  Meat-heavy diet = higher footprint</a:t>
            </a:r>
          </a:p>
          <a:p>
            <a:pPr algn="l">
              <a:lnSpc>
                <a:spcPts val="1035"/>
              </a:lnSpc>
              <a:spcAft>
                <a:spcPts val="400"/>
              </a:spcAft>
              <a:defRPr sz="900" b="0">
                <a:solidFill>
                  <a:srgbClr val="6B6560"/>
                </a:solidFill>
                <a:latin typeface="Segoe UI" panose="020B0502040204020203"/>
              </a:defRPr>
            </a:pPr>
            <a:r>
              <a:t>•  Eating more plant-based meals earns credits</a:t>
            </a:r>
          </a:p>
          <a:p>
            <a:pPr algn="l">
              <a:lnSpc>
                <a:spcPts val="1035"/>
              </a:lnSpc>
              <a:spcAft>
                <a:spcPts val="400"/>
              </a:spcAft>
              <a:defRPr sz="900" b="0">
                <a:solidFill>
                  <a:srgbClr val="6B6560"/>
                </a:solidFill>
                <a:latin typeface="Segoe UI" panose="020B0502040204020203"/>
              </a:defRPr>
            </a:pPr>
            <a:r>
              <a:t>•  Locally sourced food: 0.1 kg CO₂ benefit</a:t>
            </a:r>
          </a:p>
          <a:p>
            <a:pPr algn="l">
              <a:lnSpc>
                <a:spcPts val="1035"/>
              </a:lnSpc>
              <a:spcAft>
                <a:spcPts val="400"/>
              </a:spcAft>
              <a:defRPr sz="900" b="0">
                <a:solidFill>
                  <a:srgbClr val="6B6560"/>
                </a:solidFill>
                <a:latin typeface="Segoe UI" panose="020B0502040204020203"/>
              </a:defRPr>
            </a:pPr>
            <a:r>
              <a:t>•  Food production = ~26% of global emissions</a:t>
            </a:r>
          </a:p>
        </p:txBody>
      </p:sp>
      <p:sp>
        <p:nvSpPr>
          <p:cNvPr id="15" name="Rounded Rectangle 14"/>
          <p:cNvSpPr/>
          <p:nvPr/>
        </p:nvSpPr>
        <p:spPr>
          <a:xfrm>
            <a:off x="865616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39047" y="1645920"/>
            <a:ext cx="1920240" cy="274320"/>
          </a:xfrm>
          <a:prstGeom prst="rect">
            <a:avLst/>
          </a:prstGeom>
          <a:noFill/>
        </p:spPr>
        <p:txBody>
          <a:bodyPr wrap="square" anchor="t"/>
          <a:lstStyle/>
          <a:p>
            <a:pPr algn="l">
              <a:lnSpc>
                <a:spcPts val="1610"/>
              </a:lnSpc>
              <a:spcAft>
                <a:spcPts val="400"/>
              </a:spcAft>
              <a:defRPr sz="1400" b="1">
                <a:solidFill>
                  <a:srgbClr val="C48B5C"/>
                </a:solidFill>
                <a:latin typeface="Georgia" panose="02040502050405020303"/>
              </a:defRPr>
            </a:pPr>
            <a:r>
              <a:t>  Waste</a:t>
            </a:r>
          </a:p>
        </p:txBody>
      </p:sp>
      <p:sp>
        <p:nvSpPr>
          <p:cNvPr id="17" name="TextBox 16"/>
          <p:cNvSpPr txBox="1"/>
          <p:nvPr/>
        </p:nvSpPr>
        <p:spPr>
          <a:xfrm>
            <a:off x="8839047" y="2011680"/>
            <a:ext cx="1920240" cy="274320"/>
          </a:xfrm>
          <a:prstGeom prst="rect">
            <a:avLst/>
          </a:prstGeom>
          <a:noFill/>
        </p:spPr>
        <p:txBody>
          <a:bodyPr wrap="square" anchor="t"/>
          <a:lstStyle/>
          <a:p>
            <a:pPr algn="l">
              <a:lnSpc>
                <a:spcPts val="1035"/>
              </a:lnSpc>
              <a:spcAft>
                <a:spcPts val="400"/>
              </a:spcAft>
              <a:defRPr sz="900" b="0">
                <a:solidFill>
                  <a:srgbClr val="6B6560"/>
                </a:solidFill>
                <a:latin typeface="Segoe UI" panose="020B0502040204020203"/>
              </a:defRPr>
            </a:pPr>
          </a:p>
          <a:p>
            <a:pPr algn="l">
              <a:lnSpc>
                <a:spcPts val="1035"/>
              </a:lnSpc>
              <a:spcAft>
                <a:spcPts val="400"/>
              </a:spcAft>
              <a:defRPr sz="900" b="0">
                <a:solidFill>
                  <a:srgbClr val="6B6560"/>
                </a:solidFill>
                <a:latin typeface="Segoe UI" panose="020B0502040204020203"/>
              </a:defRPr>
            </a:pPr>
            <a:r>
              <a:t>•  Not recycling: +100 kg CO₂ penalty</a:t>
            </a:r>
          </a:p>
          <a:p>
            <a:pPr algn="l">
              <a:lnSpc>
                <a:spcPts val="1035"/>
              </a:lnSpc>
              <a:spcAft>
                <a:spcPts val="400"/>
              </a:spcAft>
              <a:defRPr sz="900" b="0">
                <a:solidFill>
                  <a:srgbClr val="6B6560"/>
                </a:solidFill>
                <a:latin typeface="Segoe UI" panose="020B0502040204020203"/>
              </a:defRPr>
            </a:pPr>
            <a:r>
              <a:t>•  Not composting: +50 kg CO₂ penalty</a:t>
            </a:r>
          </a:p>
          <a:p>
            <a:pPr algn="l">
              <a:lnSpc>
                <a:spcPts val="1035"/>
              </a:lnSpc>
              <a:spcAft>
                <a:spcPts val="400"/>
              </a:spcAft>
              <a:defRPr sz="900" b="0">
                <a:solidFill>
                  <a:srgbClr val="6B6560"/>
                </a:solidFill>
                <a:latin typeface="Segoe UI" panose="020B0502040204020203"/>
              </a:defRPr>
            </a:pPr>
            <a:r>
              <a:t>•  Methane from landfills is 25× worse than CO₂</a:t>
            </a:r>
          </a:p>
          <a:p>
            <a:pPr algn="l">
              <a:lnSpc>
                <a:spcPts val="1035"/>
              </a:lnSpc>
              <a:spcAft>
                <a:spcPts val="400"/>
              </a:spcAft>
              <a:defRPr sz="900" b="0">
                <a:solidFill>
                  <a:srgbClr val="6B6560"/>
                </a:solidFill>
                <a:latin typeface="Segoe UI" panose="020B0502040204020203"/>
              </a:defRPr>
            </a:pPr>
            <a:r>
              <a:t>•  Better waste habits are the easiest win</a:t>
            </a:r>
          </a:p>
        </p:txBody>
      </p:sp>
      <p:sp>
        <p:nvSpPr>
          <p:cNvPr id="18" name="TextBox 17"/>
          <p:cNvSpPr txBox="1"/>
          <p:nvPr/>
        </p:nvSpPr>
        <p:spPr>
          <a:xfrm>
            <a:off x="1097280" y="4617720"/>
            <a:ext cx="9997135" cy="274320"/>
          </a:xfrm>
          <a:prstGeom prst="rect">
            <a:avLst/>
          </a:prstGeom>
          <a:noFill/>
        </p:spPr>
        <p:txBody>
          <a:bodyPr wrap="square" anchor="t"/>
          <a:lstStyle/>
          <a:p>
            <a:pPr algn="l">
              <a:lnSpc>
                <a:spcPts val="1380"/>
              </a:lnSpc>
              <a:spcAft>
                <a:spcPts val="400"/>
              </a:spcAft>
              <a:defRPr sz="1200" b="1">
                <a:solidFill>
                  <a:srgbClr val="1C1C24"/>
                </a:solidFill>
                <a:latin typeface="Segoe UI" panose="020B0502040204020203"/>
              </a:defRPr>
            </a:pPr>
            <a:r>
              <a:t>Rating Thresholds:</a:t>
            </a:r>
          </a:p>
          <a:p>
            <a:pPr algn="l">
              <a:lnSpc>
                <a:spcPts val="1265"/>
              </a:lnSpc>
              <a:spcAft>
                <a:spcPts val="600"/>
              </a:spcAft>
              <a:defRPr sz="1100" b="1">
                <a:solidFill>
                  <a:srgbClr val="5C8D6D"/>
                </a:solidFill>
                <a:latin typeface="Segoe UI" panose="020B0502040204020203"/>
              </a:defRPr>
            </a:pPr>
            <a:r>
              <a:t>Excellent: Below 3,000 kg CO₂/year — Your footprint is well below average — keep it up!</a:t>
            </a:r>
          </a:p>
          <a:p>
            <a:pPr algn="l">
              <a:lnSpc>
                <a:spcPts val="1265"/>
              </a:lnSpc>
              <a:spcAft>
                <a:spcPts val="600"/>
              </a:spcAft>
              <a:defRPr sz="1100" b="1">
                <a:solidFill>
                  <a:srgbClr val="2C5282"/>
                </a:solidFill>
                <a:latin typeface="Segoe UI" panose="020B0502040204020203"/>
              </a:defRPr>
            </a:pPr>
            <a:r>
              <a:t>Good: 3,000 – 6,000 kg CO₂/year — Moderate footprint with clear room for improvement</a:t>
            </a:r>
          </a:p>
          <a:p>
            <a:pPr algn="l">
              <a:lnSpc>
                <a:spcPts val="1265"/>
              </a:lnSpc>
              <a:spcAft>
                <a:spcPts val="600"/>
              </a:spcAft>
              <a:defRPr sz="1100" b="1">
                <a:solidFill>
                  <a:srgbClr val="C48B5C"/>
                </a:solidFill>
                <a:latin typeface="Segoe UI" panose="020B0502040204020203"/>
              </a:defRPr>
            </a:pPr>
            <a:r>
              <a:t>Average: 6,000 – 10,000 kg CO₂/year — Above sustainable levels — consider targeted reductions</a:t>
            </a:r>
          </a:p>
          <a:p>
            <a:pPr algn="l">
              <a:lnSpc>
                <a:spcPts val="1265"/>
              </a:lnSpc>
              <a:spcAft>
                <a:spcPts val="600"/>
              </a:spcAft>
              <a:defRPr sz="1100" b="1">
                <a:solidFill>
                  <a:srgbClr val="B8573E"/>
                </a:solidFill>
                <a:latin typeface="Segoe UI" panose="020B0502040204020203"/>
              </a:defRPr>
            </a:pPr>
            <a:r>
              <a:t>High: Above 10,000 kg CO₂/year — Urgent action needed to reduce environmental impact</a:t>
            </a:r>
          </a:p>
        </p:txBody>
      </p:sp>
      <p:sp>
        <p:nvSpPr>
          <p:cNvPr id="19" name="TextBox 18"/>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15</a:t>
            </a:r>
          </a:p>
        </p:txBody>
      </p:sp>
    </p:spTree>
  </p:cSld>
  <p:clrMapOvr>
    <a:masterClrMapping/>
  </p:clrMapOvr>
  <p:transition>
    <p:fade/>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What You Can Actually Do</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Simple changes that make a real difference — no heroics required</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46304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146304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64592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  Transportation</a:t>
            </a:r>
          </a:p>
        </p:txBody>
      </p:sp>
      <p:sp>
        <p:nvSpPr>
          <p:cNvPr id="9" name="TextBox 8"/>
          <p:cNvSpPr txBox="1"/>
          <p:nvPr/>
        </p:nvSpPr>
        <p:spPr>
          <a:xfrm>
            <a:off x="1417320" y="2103120"/>
            <a:ext cx="4114800" cy="123444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  Take the bus or subway instead of driving — even once a week adds up</a:t>
            </a:r>
            <a:br/>
            <a:r>
              <a:t>✓  One fewer round-trip flight per year saves about 1.6 tonnes of CO₂</a:t>
            </a:r>
            <a:br/>
            <a:r>
              <a:t>✓  If you need a car, carpool or look into electric options</a:t>
            </a:r>
          </a:p>
        </p:txBody>
      </p:sp>
      <p:sp>
        <p:nvSpPr>
          <p:cNvPr id="10" name="Rounded Rectangle 9"/>
          <p:cNvSpPr/>
          <p:nvPr/>
        </p:nvSpPr>
        <p:spPr>
          <a:xfrm>
            <a:off x="6035040" y="146304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46304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64592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  Energy at Home</a:t>
            </a:r>
          </a:p>
        </p:txBody>
      </p:sp>
      <p:sp>
        <p:nvSpPr>
          <p:cNvPr id="13" name="TextBox 12"/>
          <p:cNvSpPr txBox="1"/>
          <p:nvPr/>
        </p:nvSpPr>
        <p:spPr>
          <a:xfrm>
            <a:off x="6355080" y="2103120"/>
            <a:ext cx="4114800" cy="123444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  LED bulbs use 75% less energy and last years longer than incandescent</a:t>
            </a:r>
            <a:br/>
            <a:r>
              <a:t>✓  Standby power from plugged-in devices can be 5-10% of your bill — unplug things</a:t>
            </a:r>
            <a:br/>
            <a:r>
              <a:t>✓  If your area offers green power plans, they're often not much more expensive</a:t>
            </a:r>
          </a:p>
        </p:txBody>
      </p:sp>
      <p:sp>
        <p:nvSpPr>
          <p:cNvPr id="14" name="Rounded Rectangle 13"/>
          <p:cNvSpPr/>
          <p:nvPr/>
        </p:nvSpPr>
        <p:spPr>
          <a:xfrm>
            <a:off x="1097280" y="370332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370332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17320" y="388620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  Food Choices</a:t>
            </a:r>
          </a:p>
        </p:txBody>
      </p:sp>
      <p:sp>
        <p:nvSpPr>
          <p:cNvPr id="17" name="TextBox 16"/>
          <p:cNvSpPr txBox="1"/>
          <p:nvPr/>
        </p:nvSpPr>
        <p:spPr>
          <a:xfrm>
            <a:off x="1417320" y="4343400"/>
            <a:ext cx="4114800" cy="123444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  Cutting meat consumption in half roughly cuts your food footprint by 40%</a:t>
            </a:r>
            <a:br/>
            <a:r>
              <a:t>✓  Seasonal local produce doesn't need to be flown or trucked across continents</a:t>
            </a:r>
            <a:br/>
            <a:r>
              <a:t>✓  A third of all food gets wasted — meal planning helps more than people think</a:t>
            </a:r>
          </a:p>
        </p:txBody>
      </p:sp>
      <p:sp>
        <p:nvSpPr>
          <p:cNvPr id="18" name="Rounded Rectangle 17"/>
          <p:cNvSpPr/>
          <p:nvPr/>
        </p:nvSpPr>
        <p:spPr>
          <a:xfrm>
            <a:off x="6035040" y="370332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35040" y="370332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388620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panose="02040502050405020303"/>
              </a:defRPr>
            </a:pPr>
            <a:r>
              <a:t>  Waste</a:t>
            </a:r>
          </a:p>
        </p:txBody>
      </p:sp>
      <p:sp>
        <p:nvSpPr>
          <p:cNvPr id="21" name="TextBox 20"/>
          <p:cNvSpPr txBox="1"/>
          <p:nvPr/>
        </p:nvSpPr>
        <p:spPr>
          <a:xfrm>
            <a:off x="6355080" y="4343400"/>
            <a:ext cx="4114800" cy="1234440"/>
          </a:xfrm>
          <a:prstGeom prst="rect">
            <a:avLst/>
          </a:prstGeom>
          <a:noFill/>
        </p:spPr>
        <p:txBody>
          <a:bodyPr wrap="square" anchor="t"/>
          <a:lstStyle/>
          <a:p>
            <a:pPr algn="l">
              <a:lnSpc>
                <a:spcPts val="1500"/>
              </a:lnSpc>
              <a:spcAft>
                <a:spcPts val="400"/>
              </a:spcAft>
              <a:defRPr sz="1200" b="0">
                <a:solidFill>
                  <a:srgbClr val="6B6560"/>
                </a:solidFill>
                <a:latin typeface="Segoe UI" panose="020B0502040204020203"/>
              </a:defRPr>
            </a:pPr>
            <a:r>
              <a:t>✓  Separate your trash: recyclables, kitchen scraps for compost, and actual landfill</a:t>
            </a:r>
            <a:br/>
            <a:r>
              <a:t>✓  Composting turns food waste into soil instead of methane in a landfill</a:t>
            </a:r>
            <a:br/>
            <a:r>
              <a:t>✓  Bring a reusable bag and water bottle — simple but effective over time</a:t>
            </a:r>
          </a:p>
        </p:txBody>
      </p:sp>
      <p:sp>
        <p:nvSpPr>
          <p:cNvPr id="22" name="TextBox 21"/>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16</a:t>
            </a:r>
          </a:p>
        </p:txBody>
      </p:sp>
    </p:spTree>
  </p:cSld>
  <p:clrMapOvr>
    <a:masterClrMapping/>
  </p:clrMapOvr>
  <p:transition>
    <p:fade/>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How We Built It</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The tech stack and architecture behind the website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86687" y="1508760"/>
            <a:ext cx="2011680" cy="1417320"/>
          </a:xfrm>
          <a:prstGeom prst="roundRect">
            <a:avLst/>
          </a:prstGeom>
          <a:solidFill>
            <a:srgbClr val="C48B5C"/>
          </a:solidFill>
          <a:ln w="12700">
            <a:solidFill>
              <a:srgbClr val="C48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23847" y="1600200"/>
            <a:ext cx="1737360" cy="274320"/>
          </a:xfrm>
          <a:prstGeom prst="rect">
            <a:avLst/>
          </a:prstGeom>
          <a:noFill/>
        </p:spPr>
        <p:txBody>
          <a:bodyPr wrap="square" anchor="t"/>
          <a:lstStyle/>
          <a:p>
            <a:pPr algn="l">
              <a:lnSpc>
                <a:spcPts val="1150"/>
              </a:lnSpc>
              <a:spcAft>
                <a:spcPts val="400"/>
              </a:spcAft>
              <a:defRPr sz="1000" b="1">
                <a:solidFill>
                  <a:srgbClr val="FFFFFF"/>
                </a:solidFill>
                <a:latin typeface="Segoe UI" panose="020B0502040204020203"/>
              </a:defRPr>
            </a:pPr>
            <a:r>
              <a:t>Browser</a:t>
            </a:r>
          </a:p>
        </p:txBody>
      </p:sp>
      <p:sp>
        <p:nvSpPr>
          <p:cNvPr id="8" name="TextBox 7"/>
          <p:cNvSpPr txBox="1"/>
          <p:nvPr/>
        </p:nvSpPr>
        <p:spPr>
          <a:xfrm>
            <a:off x="1523847" y="1920240"/>
            <a:ext cx="1737360" cy="914400"/>
          </a:xfrm>
          <a:prstGeom prst="rect">
            <a:avLst/>
          </a:prstGeom>
          <a:noFill/>
        </p:spPr>
        <p:txBody>
          <a:bodyPr wrap="square" anchor="t"/>
          <a:lstStyle/>
          <a:p>
            <a:pPr algn="l">
              <a:lnSpc>
                <a:spcPts val="1265"/>
              </a:lnSpc>
              <a:spcAft>
                <a:spcPts val="400"/>
              </a:spcAft>
              <a:defRPr sz="1100" b="0">
                <a:solidFill>
                  <a:srgbClr val="FFFFFF"/>
                </a:solidFill>
                <a:latin typeface="Segoe UI" panose="020B0502040204020203"/>
              </a:defRPr>
            </a:pPr>
            <a:r>
              <a:t>User Interface</a:t>
            </a:r>
            <a:br/>
            <a:r>
              <a:t>Vue 3 SPA</a:t>
            </a:r>
          </a:p>
        </p:txBody>
      </p:sp>
      <p:sp>
        <p:nvSpPr>
          <p:cNvPr id="9" name="TextBox 8"/>
          <p:cNvSpPr txBox="1"/>
          <p:nvPr/>
        </p:nvSpPr>
        <p:spPr>
          <a:xfrm>
            <a:off x="3398367" y="1965960"/>
            <a:ext cx="457200" cy="274320"/>
          </a:xfrm>
          <a:prstGeom prst="rect">
            <a:avLst/>
          </a:prstGeom>
          <a:noFill/>
        </p:spPr>
        <p:txBody>
          <a:bodyPr wrap="square" anchor="t"/>
          <a:lstStyle/>
          <a:p>
            <a:pPr algn="ctr">
              <a:lnSpc>
                <a:spcPts val="2530"/>
              </a:lnSpc>
              <a:spcAft>
                <a:spcPts val="400"/>
              </a:spcAft>
              <a:defRPr sz="2200" b="0">
                <a:solidFill>
                  <a:srgbClr val="C48B5C"/>
                </a:solidFill>
                <a:latin typeface="Segoe UI" panose="020B0502040204020203"/>
              </a:defRPr>
            </a:pPr>
            <a:r>
              <a:t>▸</a:t>
            </a:r>
          </a:p>
        </p:txBody>
      </p:sp>
      <p:sp>
        <p:nvSpPr>
          <p:cNvPr id="10" name="Rounded Rectangle 9"/>
          <p:cNvSpPr/>
          <p:nvPr/>
        </p:nvSpPr>
        <p:spPr>
          <a:xfrm>
            <a:off x="3855567" y="1508760"/>
            <a:ext cx="2011680" cy="1417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92727" y="1600200"/>
            <a:ext cx="1737360" cy="274320"/>
          </a:xfrm>
          <a:prstGeom prst="rect">
            <a:avLst/>
          </a:prstGeom>
          <a:noFill/>
        </p:spPr>
        <p:txBody>
          <a:bodyPr wrap="square" anchor="t"/>
          <a:lstStyle/>
          <a:p>
            <a:pPr algn="l">
              <a:lnSpc>
                <a:spcPts val="1150"/>
              </a:lnSpc>
              <a:spcAft>
                <a:spcPts val="400"/>
              </a:spcAft>
              <a:defRPr sz="1000" b="1">
                <a:solidFill>
                  <a:srgbClr val="C48B5C"/>
                </a:solidFill>
                <a:latin typeface="Segoe UI" panose="020B0502040204020203"/>
              </a:defRPr>
            </a:pPr>
            <a:r>
              <a:t>Router</a:t>
            </a:r>
          </a:p>
        </p:txBody>
      </p:sp>
      <p:sp>
        <p:nvSpPr>
          <p:cNvPr id="12" name="TextBox 11"/>
          <p:cNvSpPr txBox="1"/>
          <p:nvPr/>
        </p:nvSpPr>
        <p:spPr>
          <a:xfrm>
            <a:off x="3992727" y="1920240"/>
            <a:ext cx="1737360" cy="914400"/>
          </a:xfrm>
          <a:prstGeom prst="rect">
            <a:avLst/>
          </a:prstGeom>
          <a:noFill/>
        </p:spPr>
        <p:txBody>
          <a:bodyPr wrap="square" anchor="t"/>
          <a:lstStyle/>
          <a:p>
            <a:pPr algn="l">
              <a:lnSpc>
                <a:spcPts val="1265"/>
              </a:lnSpc>
              <a:spcAft>
                <a:spcPts val="400"/>
              </a:spcAft>
              <a:defRPr sz="1100" b="0">
                <a:solidFill>
                  <a:srgbClr val="1C1C24"/>
                </a:solidFill>
                <a:latin typeface="Segoe UI" panose="020B0502040204020203"/>
              </a:defRPr>
            </a:pPr>
            <a:r>
              <a:t>Vue Router 4</a:t>
            </a:r>
            <a:br/>
            <a:r>
              <a:t>6 Route Views</a:t>
            </a:r>
          </a:p>
        </p:txBody>
      </p:sp>
      <p:sp>
        <p:nvSpPr>
          <p:cNvPr id="13" name="TextBox 12"/>
          <p:cNvSpPr txBox="1"/>
          <p:nvPr/>
        </p:nvSpPr>
        <p:spPr>
          <a:xfrm>
            <a:off x="5867247" y="1965960"/>
            <a:ext cx="457200" cy="274320"/>
          </a:xfrm>
          <a:prstGeom prst="rect">
            <a:avLst/>
          </a:prstGeom>
          <a:noFill/>
        </p:spPr>
        <p:txBody>
          <a:bodyPr wrap="square" anchor="t"/>
          <a:lstStyle/>
          <a:p>
            <a:pPr algn="ctr">
              <a:lnSpc>
                <a:spcPts val="2530"/>
              </a:lnSpc>
              <a:spcAft>
                <a:spcPts val="400"/>
              </a:spcAft>
              <a:defRPr sz="2200" b="0">
                <a:solidFill>
                  <a:srgbClr val="C48B5C"/>
                </a:solidFill>
                <a:latin typeface="Segoe UI" panose="020B0502040204020203"/>
              </a:defRPr>
            </a:pPr>
            <a:r>
              <a:t>▸</a:t>
            </a:r>
          </a:p>
        </p:txBody>
      </p:sp>
      <p:sp>
        <p:nvSpPr>
          <p:cNvPr id="14" name="Rounded Rectangle 13"/>
          <p:cNvSpPr/>
          <p:nvPr/>
        </p:nvSpPr>
        <p:spPr>
          <a:xfrm>
            <a:off x="6324447" y="1508760"/>
            <a:ext cx="2011680" cy="1417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1600200"/>
            <a:ext cx="1737360" cy="274320"/>
          </a:xfrm>
          <a:prstGeom prst="rect">
            <a:avLst/>
          </a:prstGeom>
          <a:noFill/>
        </p:spPr>
        <p:txBody>
          <a:bodyPr wrap="square" anchor="t"/>
          <a:lstStyle/>
          <a:p>
            <a:pPr algn="l">
              <a:lnSpc>
                <a:spcPts val="1150"/>
              </a:lnSpc>
              <a:spcAft>
                <a:spcPts val="400"/>
              </a:spcAft>
              <a:defRPr sz="1000" b="1">
                <a:solidFill>
                  <a:srgbClr val="C48B5C"/>
                </a:solidFill>
                <a:latin typeface="Segoe UI" panose="020B0502040204020203"/>
              </a:defRPr>
            </a:pPr>
            <a:r>
              <a:t>View Layer</a:t>
            </a:r>
          </a:p>
        </p:txBody>
      </p:sp>
      <p:sp>
        <p:nvSpPr>
          <p:cNvPr id="16" name="TextBox 15"/>
          <p:cNvSpPr txBox="1"/>
          <p:nvPr/>
        </p:nvSpPr>
        <p:spPr>
          <a:xfrm>
            <a:off x="6461607" y="1920240"/>
            <a:ext cx="1737360" cy="914400"/>
          </a:xfrm>
          <a:prstGeom prst="rect">
            <a:avLst/>
          </a:prstGeom>
          <a:noFill/>
        </p:spPr>
        <p:txBody>
          <a:bodyPr wrap="square" anchor="t"/>
          <a:lstStyle/>
          <a:p>
            <a:pPr algn="l">
              <a:lnSpc>
                <a:spcPts val="1265"/>
              </a:lnSpc>
              <a:spcAft>
                <a:spcPts val="400"/>
              </a:spcAft>
              <a:defRPr sz="1100" b="0">
                <a:solidFill>
                  <a:srgbClr val="1C1C24"/>
                </a:solidFill>
                <a:latin typeface="Segoe UI" panose="020B0502040204020203"/>
              </a:defRPr>
            </a:pPr>
            <a:r>
              <a:t>Home · About</a:t>
            </a:r>
            <a:br/>
            <a:r>
              <a:t>SDGs · Team</a:t>
            </a:r>
            <a:br/>
            <a:r>
              <a:t>Carbon · Act Now</a:t>
            </a:r>
          </a:p>
        </p:txBody>
      </p:sp>
      <p:sp>
        <p:nvSpPr>
          <p:cNvPr id="17" name="TextBox 16"/>
          <p:cNvSpPr txBox="1"/>
          <p:nvPr/>
        </p:nvSpPr>
        <p:spPr>
          <a:xfrm>
            <a:off x="8336127" y="1965960"/>
            <a:ext cx="457200" cy="274320"/>
          </a:xfrm>
          <a:prstGeom prst="rect">
            <a:avLst/>
          </a:prstGeom>
          <a:noFill/>
        </p:spPr>
        <p:txBody>
          <a:bodyPr wrap="square" anchor="t"/>
          <a:lstStyle/>
          <a:p>
            <a:pPr algn="ctr">
              <a:lnSpc>
                <a:spcPts val="2530"/>
              </a:lnSpc>
              <a:spcAft>
                <a:spcPts val="400"/>
              </a:spcAft>
              <a:defRPr sz="2200" b="0">
                <a:solidFill>
                  <a:srgbClr val="C48B5C"/>
                </a:solidFill>
                <a:latin typeface="Segoe UI" panose="020B0502040204020203"/>
              </a:defRPr>
            </a:pPr>
            <a:r>
              <a:t>▸</a:t>
            </a:r>
          </a:p>
        </p:txBody>
      </p:sp>
      <p:sp>
        <p:nvSpPr>
          <p:cNvPr id="18" name="Rounded Rectangle 17"/>
          <p:cNvSpPr/>
          <p:nvPr/>
        </p:nvSpPr>
        <p:spPr>
          <a:xfrm>
            <a:off x="8793327" y="1508760"/>
            <a:ext cx="2011680" cy="1417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0487" y="1600200"/>
            <a:ext cx="1737360" cy="274320"/>
          </a:xfrm>
          <a:prstGeom prst="rect">
            <a:avLst/>
          </a:prstGeom>
          <a:noFill/>
        </p:spPr>
        <p:txBody>
          <a:bodyPr wrap="square" anchor="t"/>
          <a:lstStyle/>
          <a:p>
            <a:pPr algn="l">
              <a:lnSpc>
                <a:spcPts val="1150"/>
              </a:lnSpc>
              <a:spcAft>
                <a:spcPts val="400"/>
              </a:spcAft>
              <a:defRPr sz="1000" b="1">
                <a:solidFill>
                  <a:srgbClr val="C48B5C"/>
                </a:solidFill>
                <a:latin typeface="Segoe UI" panose="020B0502040204020203"/>
              </a:defRPr>
            </a:pPr>
            <a:r>
              <a:t>Core Features</a:t>
            </a:r>
          </a:p>
        </p:txBody>
      </p:sp>
      <p:sp>
        <p:nvSpPr>
          <p:cNvPr id="20" name="TextBox 19"/>
          <p:cNvSpPr txBox="1"/>
          <p:nvPr/>
        </p:nvSpPr>
        <p:spPr>
          <a:xfrm>
            <a:off x="8930487" y="1920240"/>
            <a:ext cx="1737360" cy="914400"/>
          </a:xfrm>
          <a:prstGeom prst="rect">
            <a:avLst/>
          </a:prstGeom>
          <a:noFill/>
        </p:spPr>
        <p:txBody>
          <a:bodyPr wrap="square" anchor="t"/>
          <a:lstStyle/>
          <a:p>
            <a:pPr algn="l">
              <a:lnSpc>
                <a:spcPts val="1265"/>
              </a:lnSpc>
              <a:spcAft>
                <a:spcPts val="400"/>
              </a:spcAft>
              <a:defRPr sz="1100" b="0">
                <a:solidFill>
                  <a:srgbClr val="1C1C24"/>
                </a:solidFill>
                <a:latin typeface="Segoe UI" panose="020B0502040204020203"/>
              </a:defRPr>
            </a:pPr>
            <a:r>
              <a:t>GSAP Animations</a:t>
            </a:r>
            <a:br/>
            <a:r>
              <a:t>Scoped CSS Modules</a:t>
            </a:r>
            <a:br/>
            <a:r>
              <a:t>TypeScript Types</a:t>
            </a:r>
          </a:p>
        </p:txBody>
      </p:sp>
      <p:graphicFrame>
        <p:nvGraphicFramePr>
          <p:cNvPr id="21" name="Table 20"/>
          <p:cNvGraphicFramePr>
            <a:graphicFrameLocks noGrp="1"/>
          </p:cNvGraphicFramePr>
          <p:nvPr/>
        </p:nvGraphicFramePr>
        <p:xfrm>
          <a:off x="1097280" y="3337560"/>
          <a:ext cx="8229600" cy="2560320"/>
        </p:xfrm>
        <a:graphic>
          <a:graphicData uri="http://schemas.openxmlformats.org/drawingml/2006/table">
            <a:tbl>
              <a:tblPr firstRow="1" bandRow="1">
                <a:tableStyleId>{5C22544A-7EE6-4342-B048-85BDC9FD1C3A}</a:tableStyleId>
              </a:tblPr>
              <a:tblGrid>
                <a:gridCol w="2011680"/>
                <a:gridCol w="3017520"/>
                <a:gridCol w="3200400"/>
              </a:tblGrid>
              <a:tr h="365760">
                <a:tc>
                  <a:txBody>
                    <a:bodyPr/>
                    <a:lstStyle/>
                    <a:p>
                      <a:pPr>
                        <a:defRPr sz="1300" b="1">
                          <a:solidFill>
                            <a:srgbClr val="FFFFFF"/>
                          </a:solidFill>
                          <a:latin typeface="Segoe UI" panose="020B0502040204020203"/>
                        </a:defRPr>
                      </a:pPr>
                      <a:r>
                        <a:t>Layer</a:t>
                      </a:r>
                    </a:p>
                  </a:txBody>
                  <a:tcPr marL="101600" marR="76200" marT="101600" marB="101600" anchor="ctr">
                    <a:solidFill>
                      <a:srgbClr val="0D0D18"/>
                    </a:solidFill>
                  </a:tcPr>
                </a:tc>
                <a:tc>
                  <a:txBody>
                    <a:bodyPr/>
                    <a:lstStyle/>
                    <a:p>
                      <a:pPr>
                        <a:defRPr sz="1300" b="1">
                          <a:solidFill>
                            <a:srgbClr val="FFFFFF"/>
                          </a:solidFill>
                          <a:latin typeface="Segoe UI" panose="020B0502040204020203"/>
                        </a:defRPr>
                      </a:pPr>
                      <a:r>
                        <a:t>Technology</a:t>
                      </a:r>
                    </a:p>
                  </a:txBody>
                  <a:tcPr marL="101600" marR="76200" marT="101600" marB="101600" anchor="ctr">
                    <a:solidFill>
                      <a:srgbClr val="0D0D18"/>
                    </a:solidFill>
                  </a:tcPr>
                </a:tc>
                <a:tc>
                  <a:txBody>
                    <a:bodyPr/>
                    <a:lstStyle/>
                    <a:p>
                      <a:pPr>
                        <a:defRPr sz="1300" b="1">
                          <a:solidFill>
                            <a:srgbClr val="FFFFFF"/>
                          </a:solidFill>
                          <a:latin typeface="Segoe UI" panose="020B0502040204020203"/>
                        </a:defRPr>
                      </a:pPr>
                      <a:r>
                        <a:t>Why We Chose It</a:t>
                      </a:r>
                    </a:p>
                  </a:txBody>
                  <a:tcPr marL="101600" marR="76200" marT="101600" marB="101600" anchor="ctr">
                    <a:solidFill>
                      <a:srgbClr val="0D0D18"/>
                    </a:solidFill>
                  </a:tcPr>
                </a:tc>
              </a:tr>
              <a:tr h="365760">
                <a:tc>
                  <a:txBody>
                    <a:bodyPr/>
                    <a:lstStyle/>
                    <a:p>
                      <a:pPr>
                        <a:defRPr sz="1000">
                          <a:solidFill>
                            <a:srgbClr val="1C1C24"/>
                          </a:solidFill>
                          <a:latin typeface="Segoe UI" panose="020B0502040204020203"/>
                        </a:defRPr>
                      </a:pPr>
                      <a:r>
                        <a:t>Frontend Framework</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Vue 3 (Composition API)</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Component-based, easy to refactor, good TypeScript support</a:t>
                      </a:r>
                    </a:p>
                  </a:txBody>
                  <a:tcPr marL="101600" marR="76200" marT="63500" marB="63500" anchor="ctr">
                    <a:solidFill>
                      <a:srgbClr val="F9F7F4"/>
                    </a:solidFill>
                  </a:tcPr>
                </a:tc>
              </a:tr>
              <a:tr h="365760">
                <a:tc>
                  <a:txBody>
                    <a:bodyPr/>
                    <a:lstStyle/>
                    <a:p>
                      <a:pPr>
                        <a:defRPr sz="1000">
                          <a:solidFill>
                            <a:srgbClr val="1C1C24"/>
                          </a:solidFill>
                          <a:latin typeface="Segoe UI" panose="020B0502040204020203"/>
                        </a:defRPr>
                      </a:pPr>
                      <a:r>
                        <a:t>Type System</a:t>
                      </a:r>
                    </a:p>
                  </a:txBody>
                  <a:tcPr marL="101600" marR="76200" marT="63500" marB="63500" anchor="ctr"/>
                </a:tc>
                <a:tc>
                  <a:txBody>
                    <a:bodyPr/>
                    <a:lstStyle/>
                    <a:p>
                      <a:pPr>
                        <a:defRPr sz="1000">
                          <a:solidFill>
                            <a:srgbClr val="1C1C24"/>
                          </a:solidFill>
                          <a:latin typeface="Segoe UI" panose="020B0502040204020203"/>
                        </a:defRPr>
                      </a:pPr>
                      <a:r>
                        <a:t>TypeScript (strict mode)</a:t>
                      </a:r>
                    </a:p>
                  </a:txBody>
                  <a:tcPr marL="101600" marR="76200" marT="63500" marB="63500" anchor="ctr"/>
                </a:tc>
                <a:tc>
                  <a:txBody>
                    <a:bodyPr/>
                    <a:lstStyle/>
                    <a:p>
                      <a:pPr>
                        <a:defRPr sz="1000">
                          <a:solidFill>
                            <a:srgbClr val="1C1C24"/>
                          </a:solidFill>
                          <a:latin typeface="Segoe UI" panose="020B0502040204020203"/>
                        </a:defRPr>
                      </a:pPr>
                      <a:r>
                        <a:t>Catches mistakes before runtime, makes the code self-documenting</a:t>
                      </a:r>
                    </a:p>
                  </a:txBody>
                  <a:tcPr marL="101600" marR="76200" marT="63500" marB="63500" anchor="ctr"/>
                </a:tc>
              </a:tr>
              <a:tr h="365760">
                <a:tc>
                  <a:txBody>
                    <a:bodyPr/>
                    <a:lstStyle/>
                    <a:p>
                      <a:pPr>
                        <a:defRPr sz="1000">
                          <a:solidFill>
                            <a:srgbClr val="1C1C24"/>
                          </a:solidFill>
                          <a:latin typeface="Segoe UI" panose="020B0502040204020203"/>
                        </a:defRPr>
                      </a:pPr>
                      <a:r>
                        <a:t>Routing</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Vue Router 4</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Client-side routing with clean URLs, no page reloads</a:t>
                      </a:r>
                    </a:p>
                  </a:txBody>
                  <a:tcPr marL="101600" marR="76200" marT="63500" marB="63500" anchor="ctr">
                    <a:solidFill>
                      <a:srgbClr val="F9F7F4"/>
                    </a:solidFill>
                  </a:tcPr>
                </a:tc>
              </a:tr>
              <a:tr h="365760">
                <a:tc>
                  <a:txBody>
                    <a:bodyPr/>
                    <a:lstStyle/>
                    <a:p>
                      <a:pPr>
                        <a:defRPr sz="1000">
                          <a:solidFill>
                            <a:srgbClr val="1C1C24"/>
                          </a:solidFill>
                          <a:latin typeface="Segoe UI" panose="020B0502040204020203"/>
                        </a:defRPr>
                      </a:pPr>
                      <a:r>
                        <a:t>Animations</a:t>
                      </a:r>
                    </a:p>
                  </a:txBody>
                  <a:tcPr marL="101600" marR="76200" marT="63500" marB="63500" anchor="ctr"/>
                </a:tc>
                <a:tc>
                  <a:txBody>
                    <a:bodyPr/>
                    <a:lstStyle/>
                    <a:p>
                      <a:pPr>
                        <a:defRPr sz="1000">
                          <a:solidFill>
                            <a:srgbClr val="1C1C24"/>
                          </a:solidFill>
                          <a:latin typeface="Segoe UI" panose="020B0502040204020203"/>
                        </a:defRPr>
                      </a:pPr>
                      <a:r>
                        <a:t>GSAP + ScrollTrigger</a:t>
                      </a:r>
                    </a:p>
                  </a:txBody>
                  <a:tcPr marL="101600" marR="76200" marT="63500" marB="63500" anchor="ctr"/>
                </a:tc>
                <a:tc>
                  <a:txBody>
                    <a:bodyPr/>
                    <a:lstStyle/>
                    <a:p>
                      <a:pPr>
                        <a:defRPr sz="1000">
                          <a:solidFill>
                            <a:srgbClr val="1C1C24"/>
                          </a:solidFill>
                          <a:latin typeface="Segoe UI" panose="020B0502040204020203"/>
                        </a:defRPr>
                      </a:pPr>
                      <a:r>
                        <a:t>Industry standard for scroll-linked animation, works reliably across browsers</a:t>
                      </a:r>
                    </a:p>
                  </a:txBody>
                  <a:tcPr marL="101600" marR="76200" marT="63500" marB="63500" anchor="ctr"/>
                </a:tc>
              </a:tr>
              <a:tr h="365760">
                <a:tc>
                  <a:txBody>
                    <a:bodyPr/>
                    <a:lstStyle/>
                    <a:p>
                      <a:pPr>
                        <a:defRPr sz="1000">
                          <a:solidFill>
                            <a:srgbClr val="1C1C24"/>
                          </a:solidFill>
                          <a:latin typeface="Segoe UI" panose="020B0502040204020203"/>
                        </a:defRPr>
                      </a:pPr>
                      <a:r>
                        <a:t>Build Tooling</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Vite 6</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Fast dev server, quick HMR, straightforward production builds</a:t>
                      </a:r>
                    </a:p>
                  </a:txBody>
                  <a:tcPr marL="101600" marR="76200" marT="63500" marB="63500" anchor="ctr">
                    <a:solidFill>
                      <a:srgbClr val="F9F7F4"/>
                    </a:solidFill>
                  </a:tcPr>
                </a:tc>
              </a:tr>
              <a:tr h="365760">
                <a:tc>
                  <a:txBody>
                    <a:bodyPr/>
                    <a:lstStyle/>
                    <a:p>
                      <a:pPr>
                        <a:defRPr sz="1000">
                          <a:solidFill>
                            <a:srgbClr val="1C1C24"/>
                          </a:solidFill>
                          <a:latin typeface="Segoe UI" panose="020B0502040204020203"/>
                        </a:defRPr>
                      </a:pPr>
                      <a:r>
                        <a:t>Styling</a:t>
                      </a:r>
                    </a:p>
                  </a:txBody>
                  <a:tcPr marL="101600" marR="76200" marT="63500" marB="63500" anchor="ctr"/>
                </a:tc>
                <a:tc>
                  <a:txBody>
                    <a:bodyPr/>
                    <a:lstStyle/>
                    <a:p>
                      <a:pPr>
                        <a:defRPr sz="1000">
                          <a:solidFill>
                            <a:srgbClr val="1C1C24"/>
                          </a:solidFill>
                          <a:latin typeface="Segoe UI" panose="020B0502040204020203"/>
                        </a:defRPr>
                      </a:pPr>
                      <a:r>
                        <a:t>Scoped CSS</a:t>
                      </a:r>
                    </a:p>
                  </a:txBody>
                  <a:tcPr marL="101600" marR="76200" marT="63500" marB="63500" anchor="ctr"/>
                </a:tc>
                <a:tc>
                  <a:txBody>
                    <a:bodyPr/>
                    <a:lstStyle/>
                    <a:p>
                      <a:pPr>
                        <a:defRPr sz="1000">
                          <a:solidFill>
                            <a:srgbClr val="1C1C24"/>
                          </a:solidFill>
                          <a:latin typeface="Segoe UI" panose="020B0502040204020203"/>
                        </a:defRPr>
                      </a:pPr>
                      <a:r>
                        <a:t>Styles are tied to components so they don't leak or conflict</a:t>
                      </a:r>
                    </a:p>
                  </a:txBody>
                  <a:tcPr marL="101600" marR="76200" marT="63500" marB="63500" anchor="ctr"/>
                </a:tc>
              </a:tr>
            </a:tbl>
          </a:graphicData>
        </a:graphic>
      </p:graphicFrame>
      <p:sp>
        <p:nvSpPr>
          <p:cNvPr id="22" name="TextBox 21"/>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17</a:t>
            </a:r>
          </a:p>
        </p:txBody>
      </p:sp>
    </p:spTree>
  </p:cSld>
  <p:clrMapOvr>
    <a:masterClrMapping/>
  </p:clrMapOvr>
  <p:transition>
    <p:fad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What We Learned</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Five things this project taught us about the SDGs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 y="141732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1</a:t>
            </a:r>
          </a:p>
        </p:txBody>
      </p:sp>
      <p:sp>
        <p:nvSpPr>
          <p:cNvPr id="7" name="TextBox 6"/>
          <p:cNvSpPr txBox="1"/>
          <p:nvPr/>
        </p:nvSpPr>
        <p:spPr>
          <a:xfrm>
            <a:off x="1783080" y="1417320"/>
            <a:ext cx="1371600" cy="45720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Everything Is Connected</a:t>
            </a:r>
          </a:p>
        </p:txBody>
      </p:sp>
      <p:sp>
        <p:nvSpPr>
          <p:cNvPr id="8" name="TextBox 7"/>
          <p:cNvSpPr txBox="1"/>
          <p:nvPr/>
        </p:nvSpPr>
        <p:spPr>
          <a:xfrm>
            <a:off x="3200400" y="1435608"/>
            <a:ext cx="7772400" cy="77724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You can't fix poverty without also addressing education, health, and gender equality. The SDGs work as a system, not a list. That's both the challenge and the point.</a:t>
            </a:r>
          </a:p>
        </p:txBody>
      </p:sp>
      <p:sp>
        <p:nvSpPr>
          <p:cNvPr id="9" name="Oval 8"/>
          <p:cNvSpPr/>
          <p:nvPr/>
        </p:nvSpPr>
        <p:spPr>
          <a:xfrm>
            <a:off x="1097280" y="237744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2</a:t>
            </a:r>
          </a:p>
        </p:txBody>
      </p:sp>
      <p:sp>
        <p:nvSpPr>
          <p:cNvPr id="10" name="TextBox 9"/>
          <p:cNvSpPr txBox="1"/>
          <p:nvPr/>
        </p:nvSpPr>
        <p:spPr>
          <a:xfrm>
            <a:off x="1783080" y="2377440"/>
            <a:ext cx="1371600" cy="45720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Everyone Is in This</a:t>
            </a:r>
          </a:p>
        </p:txBody>
      </p:sp>
      <p:sp>
        <p:nvSpPr>
          <p:cNvPr id="11" name="TextBox 10"/>
          <p:cNvSpPr txBox="1"/>
          <p:nvPr/>
        </p:nvSpPr>
        <p:spPr>
          <a:xfrm>
            <a:off x="3200400" y="2395728"/>
            <a:ext cx="7772400" cy="77724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It's easy to think international goals are for governments and the UN. But businesses, local communities, and individual choices are how these goals actually get implemented — or don't.</a:t>
            </a:r>
          </a:p>
        </p:txBody>
      </p:sp>
      <p:sp>
        <p:nvSpPr>
          <p:cNvPr id="12" name="Oval 11"/>
          <p:cNvSpPr/>
          <p:nvPr/>
        </p:nvSpPr>
        <p:spPr>
          <a:xfrm>
            <a:off x="1097280" y="333756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3</a:t>
            </a:r>
          </a:p>
        </p:txBody>
      </p:sp>
      <p:sp>
        <p:nvSpPr>
          <p:cNvPr id="13" name="TextBox 12"/>
          <p:cNvSpPr txBox="1"/>
          <p:nvPr/>
        </p:nvSpPr>
        <p:spPr>
          <a:xfrm>
            <a:off x="1783080" y="3337560"/>
            <a:ext cx="1371600" cy="45720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Tech Helps, But It's Just a Tool</a:t>
            </a:r>
          </a:p>
        </p:txBody>
      </p:sp>
      <p:sp>
        <p:nvSpPr>
          <p:cNvPr id="14" name="TextBox 13"/>
          <p:cNvSpPr txBox="1"/>
          <p:nvPr/>
        </p:nvSpPr>
        <p:spPr>
          <a:xfrm>
            <a:off x="3200400" y="3355848"/>
            <a:ext cx="7772400" cy="77724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Our carbon calculator makes an abstract concept feel personal. But the hard part isn't the technology — it's getting people to care enough to use it and act on the results.</a:t>
            </a:r>
          </a:p>
        </p:txBody>
      </p:sp>
      <p:sp>
        <p:nvSpPr>
          <p:cNvPr id="15" name="Oval 14"/>
          <p:cNvSpPr/>
          <p:nvPr/>
        </p:nvSpPr>
        <p:spPr>
          <a:xfrm>
            <a:off x="1097280" y="429768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4</a:t>
            </a:r>
          </a:p>
        </p:txBody>
      </p:sp>
      <p:sp>
        <p:nvSpPr>
          <p:cNvPr id="16" name="TextBox 15"/>
          <p:cNvSpPr txBox="1"/>
          <p:nvPr/>
        </p:nvSpPr>
        <p:spPr>
          <a:xfrm>
            <a:off x="1783080" y="4297680"/>
            <a:ext cx="1371600" cy="45720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Small Changes Compound</a:t>
            </a:r>
          </a:p>
        </p:txBody>
      </p:sp>
      <p:sp>
        <p:nvSpPr>
          <p:cNvPr id="17" name="TextBox 16"/>
          <p:cNvSpPr txBox="1"/>
          <p:nvPr/>
        </p:nvSpPr>
        <p:spPr>
          <a:xfrm>
            <a:off x="3200400" y="4315968"/>
            <a:ext cx="7772400" cy="77724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One person switching to public transit doesn't matter. Millions doing it changes emissions trajectories. The scale problem cuts both ways — individual actions feel tiny, but they're the only lever we have.</a:t>
            </a:r>
          </a:p>
        </p:txBody>
      </p:sp>
      <p:sp>
        <p:nvSpPr>
          <p:cNvPr id="18" name="Oval 17"/>
          <p:cNvSpPr/>
          <p:nvPr/>
        </p:nvSpPr>
        <p:spPr>
          <a:xfrm>
            <a:off x="1097280" y="525780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5</a:t>
            </a:r>
          </a:p>
        </p:txBody>
      </p:sp>
      <p:sp>
        <p:nvSpPr>
          <p:cNvPr id="19" name="TextBox 18"/>
          <p:cNvSpPr txBox="1"/>
          <p:nvPr/>
        </p:nvSpPr>
        <p:spPr>
          <a:xfrm>
            <a:off x="1783080" y="5257800"/>
            <a:ext cx="1371600" cy="457200"/>
          </a:xfrm>
          <a:prstGeom prst="rect">
            <a:avLst/>
          </a:prstGeom>
          <a:noFill/>
        </p:spPr>
        <p:txBody>
          <a:bodyPr wrap="square" anchor="t"/>
          <a:lstStyle/>
          <a:p>
            <a:pPr algn="l">
              <a:lnSpc>
                <a:spcPts val="1380"/>
              </a:lnSpc>
              <a:spcAft>
                <a:spcPts val="400"/>
              </a:spcAft>
              <a:defRPr sz="1200" b="1">
                <a:solidFill>
                  <a:srgbClr val="1C1C24"/>
                </a:solidFill>
                <a:latin typeface="Georgia" panose="02040502050405020303"/>
              </a:defRPr>
            </a:pPr>
            <a:r>
              <a:t>2030 Is Close and We're Behind</a:t>
            </a:r>
          </a:p>
        </p:txBody>
      </p:sp>
      <p:sp>
        <p:nvSpPr>
          <p:cNvPr id="20" name="TextBox 19"/>
          <p:cNvSpPr txBox="1"/>
          <p:nvPr/>
        </p:nvSpPr>
        <p:spPr>
          <a:xfrm>
            <a:off x="3200400" y="5276088"/>
            <a:ext cx="7772400" cy="77724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The UN's own midpoint review found only 15% of SDG targets are on track. Four years isn't much time. This isn't a future problem we're preparing for — it's happening now.</a:t>
            </a:r>
          </a:p>
        </p:txBody>
      </p:sp>
      <p:sp>
        <p:nvSpPr>
          <p:cNvPr id="21" name="TextBox 20"/>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18</a:t>
            </a:r>
          </a:p>
        </p:txBody>
      </p:sp>
    </p:spTree>
  </p:cSld>
  <p:clrMapOvr>
    <a:masterClrMapping/>
  </p:clrMapOvr>
  <p:transition>
    <p:fad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0D18"/>
        </a:solidFill>
        <a:effectLst/>
      </p:bgPr>
    </p:bg>
    <p:spTree>
      <p:nvGrpSpPr>
        <p:cNvPr id="1" name=""/>
        <p:cNvGrpSpPr/>
        <p:nvPr/>
      </p:nvGrpSpPr>
      <p:grpSpPr/>
      <p:sp>
        <p:nvSpPr>
          <p:cNvPr id="2" name="Rectangle 1"/>
          <p:cNvSpPr/>
          <p:nvPr/>
        </p:nvSpPr>
        <p:spPr>
          <a:xfrm>
            <a:off x="5029200" y="2926080"/>
            <a:ext cx="210312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914400"/>
          </a:xfrm>
          <a:prstGeom prst="rect">
            <a:avLst/>
          </a:prstGeom>
          <a:noFill/>
        </p:spPr>
        <p:txBody>
          <a:bodyPr wrap="square" anchor="t"/>
          <a:lstStyle/>
          <a:p>
            <a:pPr algn="ctr">
              <a:lnSpc>
                <a:spcPts val="3680"/>
              </a:lnSpc>
              <a:spcAft>
                <a:spcPts val="400"/>
              </a:spcAft>
              <a:defRPr sz="3200" b="1">
                <a:solidFill>
                  <a:srgbClr val="FFFFFF"/>
                </a:solidFill>
                <a:latin typeface="Georgia" panose="02040502050405020303"/>
              </a:defRPr>
            </a:pPr>
            <a:r>
              <a:t>So, What Can You Do?</a:t>
            </a:r>
          </a:p>
        </p:txBody>
      </p:sp>
      <p:sp>
        <p:nvSpPr>
          <p:cNvPr id="4" name="TextBox 3"/>
          <p:cNvSpPr txBox="1"/>
          <p:nvPr/>
        </p:nvSpPr>
        <p:spPr>
          <a:xfrm>
            <a:off x="1371600" y="3108960"/>
            <a:ext cx="9418320" cy="548640"/>
          </a:xfrm>
          <a:prstGeom prst="rect">
            <a:avLst/>
          </a:prstGeom>
          <a:noFill/>
        </p:spPr>
        <p:txBody>
          <a:bodyPr wrap="square" anchor="t"/>
          <a:lstStyle/>
          <a:p>
            <a:pPr algn="ctr">
              <a:lnSpc>
                <a:spcPts val="1610"/>
              </a:lnSpc>
              <a:spcAft>
                <a:spcPts val="400"/>
              </a:spcAft>
              <a:defRPr sz="1400" b="0">
                <a:solidFill>
                  <a:srgbClr val="6B6560"/>
                </a:solidFill>
                <a:latin typeface="Segoe UI" panose="020B0502040204020203"/>
              </a:defRPr>
            </a:pPr>
            <a:r>
              <a:t>The whole point of learning about the SDGs is doing something with that knowledge</a:t>
            </a:r>
          </a:p>
        </p:txBody>
      </p:sp>
      <p:sp>
        <p:nvSpPr>
          <p:cNvPr id="5" name="TextBox 4"/>
          <p:cNvSpPr txBox="1"/>
          <p:nvPr/>
        </p:nvSpPr>
        <p:spPr>
          <a:xfrm>
            <a:off x="1828800" y="3931920"/>
            <a:ext cx="8503920" cy="457200"/>
          </a:xfrm>
          <a:prstGeom prst="rect">
            <a:avLst/>
          </a:prstGeom>
          <a:noFill/>
        </p:spPr>
        <p:txBody>
          <a:bodyPr wrap="square" anchor="t"/>
          <a:lstStyle/>
          <a:p>
            <a:pPr algn="ctr">
              <a:lnSpc>
                <a:spcPts val="1610"/>
              </a:lnSpc>
              <a:spcAft>
                <a:spcPts val="400"/>
              </a:spcAft>
              <a:defRPr sz="1400" b="0">
                <a:solidFill>
                  <a:srgbClr val="AAAABB"/>
                </a:solidFill>
                <a:latin typeface="Segoe UI" panose="020B0502040204020203"/>
              </a:defRPr>
            </a:pPr>
            <a:r>
              <a:t>Check out the 17 goals on our site. Try the carbon calculator.</a:t>
            </a:r>
            <a:br/>
            <a:r>
              <a:t>Pick one thing to change and see if it sticks.</a:t>
            </a:r>
          </a:p>
        </p:txBody>
      </p:sp>
      <p:sp>
        <p:nvSpPr>
          <p:cNvPr id="6" name="TextBox 5"/>
          <p:cNvSpPr txBox="1"/>
          <p:nvPr/>
        </p:nvSpPr>
        <p:spPr>
          <a:xfrm>
            <a:off x="2286000" y="4663440"/>
            <a:ext cx="7589520" cy="457200"/>
          </a:xfrm>
          <a:prstGeom prst="rect">
            <a:avLst/>
          </a:prstGeom>
          <a:noFill/>
        </p:spPr>
        <p:txBody>
          <a:bodyPr wrap="square" anchor="t"/>
          <a:lstStyle/>
          <a:p>
            <a:pPr algn="ctr">
              <a:lnSpc>
                <a:spcPts val="1380"/>
              </a:lnSpc>
              <a:spcAft>
                <a:spcPts val="400"/>
              </a:spcAft>
              <a:defRPr sz="1200" b="0">
                <a:solidFill>
                  <a:srgbClr val="C48B5C"/>
                </a:solidFill>
                <a:latin typeface="Georgia" panose="02040502050405020303"/>
              </a:defRPr>
            </a:pPr>
            <a:r>
              <a:t>The SDGs aren't just for the UN. They're for everyone.</a:t>
            </a:r>
          </a:p>
        </p:txBody>
      </p:sp>
      <p:sp>
        <p:nvSpPr>
          <p:cNvPr id="7" name="TextBox 6"/>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19</a:t>
            </a:r>
          </a:p>
        </p:txBody>
      </p:sp>
    </p:spTree>
  </p:cSld>
  <p:clrMapOvr>
    <a:masterClrMapping/>
  </p:clrMapOvr>
  <p:transition>
    <p:dissolv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Thanks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Questions, comments, arguments — all welcome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1463040"/>
            <a:ext cx="8503920" cy="731520"/>
          </a:xfrm>
          <a:prstGeom prst="rect">
            <a:avLst/>
          </a:prstGeom>
          <a:noFill/>
        </p:spPr>
        <p:txBody>
          <a:bodyPr wrap="square" anchor="t"/>
          <a:lstStyle/>
          <a:p>
            <a:pPr algn="ctr">
              <a:lnSpc>
                <a:spcPts val="3450"/>
              </a:lnSpc>
              <a:spcAft>
                <a:spcPts val="400"/>
              </a:spcAft>
              <a:defRPr sz="3000" b="1">
                <a:solidFill>
                  <a:srgbClr val="1C1C24"/>
                </a:solidFill>
                <a:latin typeface="Georgia" panose="02040502050405020303"/>
              </a:defRPr>
            </a:pPr>
            <a:r>
              <a:t>Thanks for Listening</a:t>
            </a:r>
          </a:p>
        </p:txBody>
      </p:sp>
      <p:sp>
        <p:nvSpPr>
          <p:cNvPr id="7" name="TextBox 6"/>
          <p:cNvSpPr txBox="1"/>
          <p:nvPr/>
        </p:nvSpPr>
        <p:spPr>
          <a:xfrm>
            <a:off x="1097280" y="2560320"/>
            <a:ext cx="5029200" cy="27432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Sources We Used</a:t>
            </a:r>
          </a:p>
          <a:p>
            <a:pPr algn="l">
              <a:lnSpc>
                <a:spcPts val="1265"/>
              </a:lnSpc>
              <a:spcAft>
                <a:spcPts val="600"/>
              </a:spcAft>
              <a:defRPr sz="1100" b="0">
                <a:solidFill>
                  <a:srgbClr val="6B6560"/>
                </a:solidFill>
                <a:latin typeface="Segoe UI" panose="020B0502040204020203"/>
              </a:defRPr>
            </a:pPr>
            <a:r>
              <a:t>•  United Nations. (2015). Transforming Our World: The 2030 Agenda. A/RES/70/1.</a:t>
            </a:r>
          </a:p>
          <a:p>
            <a:pPr algn="l">
              <a:lnSpc>
                <a:spcPts val="1265"/>
              </a:lnSpc>
              <a:spcAft>
                <a:spcPts val="600"/>
              </a:spcAft>
              <a:defRPr sz="1100" b="0">
                <a:solidFill>
                  <a:srgbClr val="6B6560"/>
                </a:solidFill>
                <a:latin typeface="Segoe UI" panose="020B0502040204020203"/>
              </a:defRPr>
            </a:pPr>
            <a:r>
              <a:t>•  IPCC. (2023). Climate Change 2023: Synthesis Report.</a:t>
            </a:r>
          </a:p>
          <a:p>
            <a:pPr algn="l">
              <a:lnSpc>
                <a:spcPts val="1265"/>
              </a:lnSpc>
              <a:spcAft>
                <a:spcPts val="600"/>
              </a:spcAft>
              <a:defRPr sz="1100" b="0">
                <a:solidFill>
                  <a:srgbClr val="6B6560"/>
                </a:solidFill>
                <a:latin typeface="Segoe UI" panose="020B0502040204020203"/>
              </a:defRPr>
            </a:pPr>
            <a:r>
              <a:t>•  UN DESA. (2024). The Sustainable Development Goals Report 2024.</a:t>
            </a:r>
          </a:p>
          <a:p>
            <a:pPr algn="l">
              <a:lnSpc>
                <a:spcPts val="1265"/>
              </a:lnSpc>
              <a:spcAft>
                <a:spcPts val="600"/>
              </a:spcAft>
              <a:defRPr sz="1100" b="0">
                <a:solidFill>
                  <a:srgbClr val="6B6560"/>
                </a:solidFill>
                <a:latin typeface="Segoe UI" panose="020B0502040204020203"/>
              </a:defRPr>
            </a:pPr>
            <a:r>
              <a:t>•  UN Stats. SDG Indicators Database. https://unstats.un.org/sdgs</a:t>
            </a:r>
          </a:p>
        </p:txBody>
      </p:sp>
      <p:sp>
        <p:nvSpPr>
          <p:cNvPr id="8" name="TextBox 7"/>
          <p:cNvSpPr txBox="1"/>
          <p:nvPr/>
        </p:nvSpPr>
        <p:spPr>
          <a:xfrm>
            <a:off x="6858000" y="2560320"/>
            <a:ext cx="4114800" cy="27432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Team</a:t>
            </a:r>
          </a:p>
          <a:p>
            <a:pPr algn="l">
              <a:lnSpc>
                <a:spcPts val="1380"/>
              </a:lnSpc>
              <a:spcAft>
                <a:spcPts val="600"/>
              </a:spcAft>
              <a:defRPr sz="1200" b="0">
                <a:solidFill>
                  <a:srgbClr val="1C1C24"/>
                </a:solidFill>
                <a:latin typeface="Segoe UI" panose="020B0502040204020203"/>
              </a:defRPr>
            </a:pPr>
            <a:r>
              <a:t>Li Shuhang — Project Lead</a:t>
            </a:r>
          </a:p>
          <a:p>
            <a:pPr algn="l">
              <a:lnSpc>
                <a:spcPts val="1265"/>
              </a:lnSpc>
              <a:spcAft>
                <a:spcPts val="600"/>
              </a:spcAft>
              <a:defRPr sz="1100" b="0">
                <a:solidFill>
                  <a:srgbClr val="6B6560"/>
                </a:solidFill>
                <a:latin typeface="Segoe UI" panose="020B0502040204020203"/>
              </a:defRPr>
            </a:pPr>
            <a:r>
              <a:t>Environmental Science  ·  8168667</a:t>
            </a:r>
          </a:p>
          <a:p>
            <a:pPr algn="l">
              <a:lnSpc>
                <a:spcPts val="1380"/>
              </a:lnSpc>
              <a:spcAft>
                <a:spcPts val="600"/>
              </a:spcAft>
              <a:defRPr sz="1200" b="0">
                <a:solidFill>
                  <a:srgbClr val="1C1C24"/>
                </a:solidFill>
                <a:latin typeface="Segoe UI" panose="020B0502040204020203"/>
              </a:defRPr>
            </a:pPr>
            <a:r>
              <a:t>Feng Jingyi — Tech Development</a:t>
            </a:r>
          </a:p>
          <a:p>
            <a:pPr algn="l">
              <a:lnSpc>
                <a:spcPts val="1265"/>
              </a:lnSpc>
              <a:spcAft>
                <a:spcPts val="600"/>
              </a:spcAft>
              <a:defRPr sz="1100" b="0">
                <a:solidFill>
                  <a:srgbClr val="6B6560"/>
                </a:solidFill>
                <a:latin typeface="Segoe UI" panose="020B0502040204020203"/>
              </a:defRPr>
            </a:pPr>
            <a:r>
              <a:t>Computer Science  ·  8168308</a:t>
            </a:r>
          </a:p>
          <a:p>
            <a:pPr algn="l">
              <a:lnSpc>
                <a:spcPts val="1380"/>
              </a:lnSpc>
              <a:spcAft>
                <a:spcPts val="600"/>
              </a:spcAft>
              <a:defRPr sz="1200" b="0">
                <a:solidFill>
                  <a:srgbClr val="1C1C24"/>
                </a:solidFill>
                <a:latin typeface="Segoe UI" panose="020B0502040204020203"/>
              </a:defRPr>
            </a:pPr>
            <a:r>
              <a:t>Wang Luyang — Policy Research</a:t>
            </a:r>
          </a:p>
          <a:p>
            <a:pPr algn="l">
              <a:lnSpc>
                <a:spcPts val="1265"/>
              </a:lnSpc>
              <a:spcAft>
                <a:spcPts val="600"/>
              </a:spcAft>
              <a:defRPr sz="1100" b="0">
                <a:solidFill>
                  <a:srgbClr val="6B6560"/>
                </a:solidFill>
                <a:latin typeface="Segoe UI" panose="020B0502040204020203"/>
              </a:defRPr>
            </a:pPr>
            <a:r>
              <a:t>International Affairs  ·  8168505</a:t>
            </a:r>
          </a:p>
          <a:p>
            <a:pPr algn="l">
              <a:lnSpc>
                <a:spcPts val="1380"/>
              </a:lnSpc>
              <a:spcAft>
                <a:spcPts val="600"/>
              </a:spcAft>
              <a:defRPr sz="1200" b="0">
                <a:solidFill>
                  <a:srgbClr val="1C1C24"/>
                </a:solidFill>
                <a:latin typeface="Segoe UI" panose="020B0502040204020203"/>
              </a:defRPr>
            </a:pPr>
            <a:r>
              <a:t>Lu Jianning — Data Analyst</a:t>
            </a:r>
          </a:p>
          <a:p>
            <a:pPr algn="l">
              <a:lnSpc>
                <a:spcPts val="1265"/>
              </a:lnSpc>
              <a:spcAft>
                <a:spcPts val="600"/>
              </a:spcAft>
              <a:defRPr sz="1100" b="0">
                <a:solidFill>
                  <a:srgbClr val="6B6560"/>
                </a:solidFill>
                <a:latin typeface="Segoe UI" panose="020B0502040204020203"/>
              </a:defRPr>
            </a:pPr>
            <a:r>
              <a:t>Statistics  ·  8168379</a:t>
            </a:r>
          </a:p>
        </p:txBody>
      </p:sp>
      <p:sp>
        <p:nvSpPr>
          <p:cNvPr id="9" name="TextBox 8"/>
          <p:cNvSpPr txBox="1"/>
          <p:nvPr/>
        </p:nvSpPr>
        <p:spPr>
          <a:xfrm>
            <a:off x="1828800" y="5303520"/>
            <a:ext cx="8503920" cy="365760"/>
          </a:xfrm>
          <a:prstGeom prst="rect">
            <a:avLst/>
          </a:prstGeom>
          <a:noFill/>
        </p:spPr>
        <p:txBody>
          <a:bodyPr wrap="square" anchor="t"/>
          <a:lstStyle/>
          <a:p>
            <a:pPr algn="ctr">
              <a:lnSpc>
                <a:spcPts val="1265"/>
              </a:lnSpc>
              <a:spcAft>
                <a:spcPts val="400"/>
              </a:spcAft>
              <a:defRPr sz="1100" b="0">
                <a:solidFill>
                  <a:srgbClr val="C48B5C"/>
                </a:solidFill>
                <a:latin typeface="Segoe UI" panose="020B0502040204020203"/>
              </a:defRPr>
            </a:pPr>
            <a:r>
              <a:t>Happy to take questions — or just chat about the SDGs</a:t>
            </a:r>
          </a:p>
        </p:txBody>
      </p:sp>
      <p:sp>
        <p:nvSpPr>
          <p:cNvPr id="10" name="TextBox 9"/>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20</a:t>
            </a:r>
          </a:p>
        </p:txBody>
      </p:sp>
    </p:spTree>
  </p:cSld>
  <p:clrMapOvr>
    <a:masterClrMapping/>
  </p:clrMapOvr>
  <p:transition>
    <p:dissolv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Appendix A: Complete SDG Reference</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All 17 Sustainable Development Goals with official short descriptions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1463040"/>
          <a:ext cx="10698480" cy="4846320"/>
        </p:xfrm>
        <a:graphic>
          <a:graphicData uri="http://schemas.openxmlformats.org/drawingml/2006/table">
            <a:tbl>
              <a:tblPr firstRow="1" bandRow="1">
                <a:tableStyleId>{5C22544A-7EE6-4342-B048-85BDC9FD1C3A}</a:tableStyleId>
              </a:tblPr>
              <a:tblGrid>
                <a:gridCol w="640080"/>
                <a:gridCol w="4114800"/>
                <a:gridCol w="5943600"/>
              </a:tblGrid>
              <a:tr h="269240">
                <a:tc>
                  <a:txBody>
                    <a:bodyPr/>
                    <a:lstStyle/>
                    <a:p>
                      <a:pPr>
                        <a:defRPr sz="1200" b="1">
                          <a:solidFill>
                            <a:srgbClr val="FFFFFF"/>
                          </a:solidFill>
                          <a:latin typeface="Segoe UI" panose="020B0502040204020203"/>
                        </a:defRPr>
                      </a:pPr>
                      <a:r>
                        <a:t>#</a:t>
                      </a:r>
                    </a:p>
                  </a:txBody>
                  <a:tcPr marL="101600" marR="76200" marT="101600" marB="101600" anchor="ctr">
                    <a:solidFill>
                      <a:srgbClr val="0D0D18"/>
                    </a:solidFill>
                  </a:tcPr>
                </a:tc>
                <a:tc>
                  <a:txBody>
                    <a:bodyPr/>
                    <a:lstStyle/>
                    <a:p>
                      <a:pPr>
                        <a:defRPr sz="1200" b="1">
                          <a:solidFill>
                            <a:srgbClr val="FFFFFF"/>
                          </a:solidFill>
                          <a:latin typeface="Segoe UI" panose="020B0502040204020203"/>
                        </a:defRPr>
                      </a:pPr>
                      <a:r>
                        <a:t>Goal</a:t>
                      </a:r>
                    </a:p>
                  </a:txBody>
                  <a:tcPr marL="101600" marR="76200" marT="101600" marB="101600" anchor="ctr">
                    <a:solidFill>
                      <a:srgbClr val="0D0D18"/>
                    </a:solidFill>
                  </a:tcPr>
                </a:tc>
                <a:tc>
                  <a:txBody>
                    <a:bodyPr/>
                    <a:lstStyle/>
                    <a:p>
                      <a:pPr>
                        <a:defRPr sz="1200" b="1">
                          <a:solidFill>
                            <a:srgbClr val="FFFFFF"/>
                          </a:solidFill>
                          <a:latin typeface="Segoe UI" panose="020B0502040204020203"/>
                        </a:defRPr>
                      </a:pPr>
                      <a:r>
                        <a:t>Official Short Description</a:t>
                      </a:r>
                    </a:p>
                  </a:txBody>
                  <a:tcPr marL="101600" marR="76200" marT="101600" marB="101600" anchor="ctr">
                    <a:solidFill>
                      <a:srgbClr val="0D0D18"/>
                    </a:solidFill>
                  </a:tcPr>
                </a:tc>
              </a:tr>
              <a:tr h="269240">
                <a:tc>
                  <a:txBody>
                    <a:bodyPr/>
                    <a:lstStyle/>
                    <a:p>
                      <a:pPr>
                        <a:defRPr sz="1000">
                          <a:solidFill>
                            <a:srgbClr val="1C1C24"/>
                          </a:solidFill>
                          <a:latin typeface="Segoe UI" panose="020B0502040204020203"/>
                        </a:defRPr>
                      </a:pPr>
                      <a:r>
                        <a:t>1</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No Poverty</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End poverty in all its forms everywhere</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2</a:t>
                      </a:r>
                    </a:p>
                  </a:txBody>
                  <a:tcPr marL="101600" marR="76200" marT="63500" marB="63500" anchor="ctr"/>
                </a:tc>
                <a:tc>
                  <a:txBody>
                    <a:bodyPr/>
                    <a:lstStyle/>
                    <a:p>
                      <a:pPr>
                        <a:defRPr sz="1000">
                          <a:solidFill>
                            <a:srgbClr val="1C1C24"/>
                          </a:solidFill>
                          <a:latin typeface="Segoe UI" panose="020B0502040204020203"/>
                        </a:defRPr>
                      </a:pPr>
                      <a:r>
                        <a:t>Zero Hunger</a:t>
                      </a:r>
                    </a:p>
                  </a:txBody>
                  <a:tcPr marL="101600" marR="76200" marT="63500" marB="63500" anchor="ctr"/>
                </a:tc>
                <a:tc>
                  <a:txBody>
                    <a:bodyPr/>
                    <a:lstStyle/>
                    <a:p>
                      <a:pPr>
                        <a:defRPr sz="1000">
                          <a:solidFill>
                            <a:srgbClr val="1C1C24"/>
                          </a:solidFill>
                          <a:latin typeface="Segoe UI" panose="020B0502040204020203"/>
                        </a:defRPr>
                      </a:pPr>
                      <a:r>
                        <a:t>End hunger, achieve food security and promote sustainable agriculture</a:t>
                      </a:r>
                    </a:p>
                  </a:txBody>
                  <a:tcPr marL="101600" marR="76200" marT="63500" marB="63500" anchor="ctr"/>
                </a:tc>
              </a:tr>
              <a:tr h="269240">
                <a:tc>
                  <a:txBody>
                    <a:bodyPr/>
                    <a:lstStyle/>
                    <a:p>
                      <a:pPr>
                        <a:defRPr sz="1000">
                          <a:solidFill>
                            <a:srgbClr val="1C1C24"/>
                          </a:solidFill>
                          <a:latin typeface="Segoe UI" panose="020B0502040204020203"/>
                        </a:defRPr>
                      </a:pPr>
                      <a:r>
                        <a:t>3</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Good Health &amp; Well-being</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Ensure healthy lives and promote well-being for all at all ages</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4</a:t>
                      </a:r>
                    </a:p>
                  </a:txBody>
                  <a:tcPr marL="101600" marR="76200" marT="63500" marB="63500" anchor="ctr"/>
                </a:tc>
                <a:tc>
                  <a:txBody>
                    <a:bodyPr/>
                    <a:lstStyle/>
                    <a:p>
                      <a:pPr>
                        <a:defRPr sz="1000">
                          <a:solidFill>
                            <a:srgbClr val="1C1C24"/>
                          </a:solidFill>
                          <a:latin typeface="Segoe UI" panose="020B0502040204020203"/>
                        </a:defRPr>
                      </a:pPr>
                      <a:r>
                        <a:t>Quality Education</a:t>
                      </a:r>
                    </a:p>
                  </a:txBody>
                  <a:tcPr marL="101600" marR="76200" marT="63500" marB="63500" anchor="ctr"/>
                </a:tc>
                <a:tc>
                  <a:txBody>
                    <a:bodyPr/>
                    <a:lstStyle/>
                    <a:p>
                      <a:pPr>
                        <a:defRPr sz="1000">
                          <a:solidFill>
                            <a:srgbClr val="1C1C24"/>
                          </a:solidFill>
                          <a:latin typeface="Segoe UI" panose="020B0502040204020203"/>
                        </a:defRPr>
                      </a:pPr>
                      <a:r>
                        <a:t>Ensure inclusive and equitable quality education for all</a:t>
                      </a:r>
                    </a:p>
                  </a:txBody>
                  <a:tcPr marL="101600" marR="76200" marT="63500" marB="63500" anchor="ctr"/>
                </a:tc>
              </a:tr>
              <a:tr h="269240">
                <a:tc>
                  <a:txBody>
                    <a:bodyPr/>
                    <a:lstStyle/>
                    <a:p>
                      <a:pPr>
                        <a:defRPr sz="1000">
                          <a:solidFill>
                            <a:srgbClr val="1C1C24"/>
                          </a:solidFill>
                          <a:latin typeface="Segoe UI" panose="020B0502040204020203"/>
                        </a:defRPr>
                      </a:pPr>
                      <a:r>
                        <a:t>5</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Gender Equality</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Achieve gender equality and empower all women and girls</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6</a:t>
                      </a:r>
                    </a:p>
                  </a:txBody>
                  <a:tcPr marL="101600" marR="76200" marT="63500" marB="63500" anchor="ctr"/>
                </a:tc>
                <a:tc>
                  <a:txBody>
                    <a:bodyPr/>
                    <a:lstStyle/>
                    <a:p>
                      <a:pPr>
                        <a:defRPr sz="1000">
                          <a:solidFill>
                            <a:srgbClr val="1C1C24"/>
                          </a:solidFill>
                          <a:latin typeface="Segoe UI" panose="020B0502040204020203"/>
                        </a:defRPr>
                      </a:pPr>
                      <a:r>
                        <a:t>Clean Water &amp; Sanitation</a:t>
                      </a:r>
                    </a:p>
                  </a:txBody>
                  <a:tcPr marL="101600" marR="76200" marT="63500" marB="63500" anchor="ctr"/>
                </a:tc>
                <a:tc>
                  <a:txBody>
                    <a:bodyPr/>
                    <a:lstStyle/>
                    <a:p>
                      <a:pPr>
                        <a:defRPr sz="1000">
                          <a:solidFill>
                            <a:srgbClr val="1C1C24"/>
                          </a:solidFill>
                          <a:latin typeface="Segoe UI" panose="020B0502040204020203"/>
                        </a:defRPr>
                      </a:pPr>
                      <a:r>
                        <a:t>Ensure availability of water and sanitation for all</a:t>
                      </a:r>
                    </a:p>
                  </a:txBody>
                  <a:tcPr marL="101600" marR="76200" marT="63500" marB="63500" anchor="ctr"/>
                </a:tc>
              </a:tr>
              <a:tr h="269240">
                <a:tc>
                  <a:txBody>
                    <a:bodyPr/>
                    <a:lstStyle/>
                    <a:p>
                      <a:pPr>
                        <a:defRPr sz="1000">
                          <a:solidFill>
                            <a:srgbClr val="1C1C24"/>
                          </a:solidFill>
                          <a:latin typeface="Segoe UI" panose="020B0502040204020203"/>
                        </a:defRPr>
                      </a:pPr>
                      <a:r>
                        <a:t>7</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Clean Energy</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Ensure access to affordable, reliable, sustainable energy for all</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8</a:t>
                      </a:r>
                    </a:p>
                  </a:txBody>
                  <a:tcPr marL="101600" marR="76200" marT="63500" marB="63500" anchor="ctr"/>
                </a:tc>
                <a:tc>
                  <a:txBody>
                    <a:bodyPr/>
                    <a:lstStyle/>
                    <a:p>
                      <a:pPr>
                        <a:defRPr sz="1000">
                          <a:solidFill>
                            <a:srgbClr val="1C1C24"/>
                          </a:solidFill>
                          <a:latin typeface="Segoe UI" panose="020B0502040204020203"/>
                        </a:defRPr>
                      </a:pPr>
                      <a:r>
                        <a:t>Decent Work &amp; Economic Growth</a:t>
                      </a:r>
                    </a:p>
                  </a:txBody>
                  <a:tcPr marL="101600" marR="76200" marT="63500" marB="63500" anchor="ctr"/>
                </a:tc>
                <a:tc>
                  <a:txBody>
                    <a:bodyPr/>
                    <a:lstStyle/>
                    <a:p>
                      <a:pPr>
                        <a:defRPr sz="1000">
                          <a:solidFill>
                            <a:srgbClr val="1C1C24"/>
                          </a:solidFill>
                          <a:latin typeface="Segoe UI" panose="020B0502040204020203"/>
                        </a:defRPr>
                      </a:pPr>
                      <a:r>
                        <a:t>Promote sustained, inclusive economic growth and decent work</a:t>
                      </a:r>
                    </a:p>
                  </a:txBody>
                  <a:tcPr marL="101600" marR="76200" marT="63500" marB="63500" anchor="ctr"/>
                </a:tc>
              </a:tr>
              <a:tr h="269240">
                <a:tc>
                  <a:txBody>
                    <a:bodyPr/>
                    <a:lstStyle/>
                    <a:p>
                      <a:pPr>
                        <a:defRPr sz="1000">
                          <a:solidFill>
                            <a:srgbClr val="1C1C24"/>
                          </a:solidFill>
                          <a:latin typeface="Segoe UI" panose="020B0502040204020203"/>
                        </a:defRPr>
                      </a:pPr>
                      <a:r>
                        <a:t>9</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Industry, Innovation &amp; Infrastructure</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Build resilient infrastructure and foster innovation</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10</a:t>
                      </a:r>
                    </a:p>
                  </a:txBody>
                  <a:tcPr marL="101600" marR="76200" marT="63500" marB="63500" anchor="ctr"/>
                </a:tc>
                <a:tc>
                  <a:txBody>
                    <a:bodyPr/>
                    <a:lstStyle/>
                    <a:p>
                      <a:pPr>
                        <a:defRPr sz="1000">
                          <a:solidFill>
                            <a:srgbClr val="1C1C24"/>
                          </a:solidFill>
                          <a:latin typeface="Segoe UI" panose="020B0502040204020203"/>
                        </a:defRPr>
                      </a:pPr>
                      <a:r>
                        <a:t>Reduced Inequalities</a:t>
                      </a:r>
                    </a:p>
                  </a:txBody>
                  <a:tcPr marL="101600" marR="76200" marT="63500" marB="63500" anchor="ctr"/>
                </a:tc>
                <a:tc>
                  <a:txBody>
                    <a:bodyPr/>
                    <a:lstStyle/>
                    <a:p>
                      <a:pPr>
                        <a:defRPr sz="1000">
                          <a:solidFill>
                            <a:srgbClr val="1C1C24"/>
                          </a:solidFill>
                          <a:latin typeface="Segoe UI" panose="020B0502040204020203"/>
                        </a:defRPr>
                      </a:pPr>
                      <a:r>
                        <a:t>Reduce inequality within and among countries</a:t>
                      </a:r>
                    </a:p>
                  </a:txBody>
                  <a:tcPr marL="101600" marR="76200" marT="63500" marB="63500" anchor="ctr"/>
                </a:tc>
              </a:tr>
              <a:tr h="269240">
                <a:tc>
                  <a:txBody>
                    <a:bodyPr/>
                    <a:lstStyle/>
                    <a:p>
                      <a:pPr>
                        <a:defRPr sz="1000">
                          <a:solidFill>
                            <a:srgbClr val="1C1C24"/>
                          </a:solidFill>
                          <a:latin typeface="Segoe UI" panose="020B0502040204020203"/>
                        </a:defRPr>
                      </a:pPr>
                      <a:r>
                        <a:t>11</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Sustainable Cities &amp; Communities</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Make cities inclusive, safe, resilient and sustainable</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12</a:t>
                      </a:r>
                    </a:p>
                  </a:txBody>
                  <a:tcPr marL="101600" marR="76200" marT="63500" marB="63500" anchor="ctr"/>
                </a:tc>
                <a:tc>
                  <a:txBody>
                    <a:bodyPr/>
                    <a:lstStyle/>
                    <a:p>
                      <a:pPr>
                        <a:defRPr sz="1000">
                          <a:solidFill>
                            <a:srgbClr val="1C1C24"/>
                          </a:solidFill>
                          <a:latin typeface="Segoe UI" panose="020B0502040204020203"/>
                        </a:defRPr>
                      </a:pPr>
                      <a:r>
                        <a:t>Responsible Consumption &amp; Production</a:t>
                      </a:r>
                    </a:p>
                  </a:txBody>
                  <a:tcPr marL="101600" marR="76200" marT="63500" marB="63500" anchor="ctr"/>
                </a:tc>
                <a:tc>
                  <a:txBody>
                    <a:bodyPr/>
                    <a:lstStyle/>
                    <a:p>
                      <a:pPr>
                        <a:defRPr sz="1000">
                          <a:solidFill>
                            <a:srgbClr val="1C1C24"/>
                          </a:solidFill>
                          <a:latin typeface="Segoe UI" panose="020B0502040204020203"/>
                        </a:defRPr>
                      </a:pPr>
                      <a:r>
                        <a:t>Ensure sustainable consumption and production patterns</a:t>
                      </a:r>
                    </a:p>
                  </a:txBody>
                  <a:tcPr marL="101600" marR="76200" marT="63500" marB="63500" anchor="ctr"/>
                </a:tc>
              </a:tr>
              <a:tr h="269240">
                <a:tc>
                  <a:txBody>
                    <a:bodyPr/>
                    <a:lstStyle/>
                    <a:p>
                      <a:pPr>
                        <a:defRPr sz="1000">
                          <a:solidFill>
                            <a:srgbClr val="1C1C24"/>
                          </a:solidFill>
                          <a:latin typeface="Segoe UI" panose="020B0502040204020203"/>
                        </a:defRPr>
                      </a:pPr>
                      <a:r>
                        <a:t>13</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Climate Action</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Take urgent action to combat climate change and its impacts</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14</a:t>
                      </a:r>
                    </a:p>
                  </a:txBody>
                  <a:tcPr marL="101600" marR="76200" marT="63500" marB="63500" anchor="ctr"/>
                </a:tc>
                <a:tc>
                  <a:txBody>
                    <a:bodyPr/>
                    <a:lstStyle/>
                    <a:p>
                      <a:pPr>
                        <a:defRPr sz="1000">
                          <a:solidFill>
                            <a:srgbClr val="1C1C24"/>
                          </a:solidFill>
                          <a:latin typeface="Segoe UI" panose="020B0502040204020203"/>
                        </a:defRPr>
                      </a:pPr>
                      <a:r>
                        <a:t>Life Below Water</a:t>
                      </a:r>
                    </a:p>
                  </a:txBody>
                  <a:tcPr marL="101600" marR="76200" marT="63500" marB="63500" anchor="ctr"/>
                </a:tc>
                <a:tc>
                  <a:txBody>
                    <a:bodyPr/>
                    <a:lstStyle/>
                    <a:p>
                      <a:pPr>
                        <a:defRPr sz="1000">
                          <a:solidFill>
                            <a:srgbClr val="1C1C24"/>
                          </a:solidFill>
                          <a:latin typeface="Segoe UI" panose="020B0502040204020203"/>
                        </a:defRPr>
                      </a:pPr>
                      <a:r>
                        <a:t>Conserve and sustainably use the oceans, seas and marine resources</a:t>
                      </a:r>
                    </a:p>
                  </a:txBody>
                  <a:tcPr marL="101600" marR="76200" marT="63500" marB="63500" anchor="ctr"/>
                </a:tc>
              </a:tr>
              <a:tr h="269240">
                <a:tc>
                  <a:txBody>
                    <a:bodyPr/>
                    <a:lstStyle/>
                    <a:p>
                      <a:pPr>
                        <a:defRPr sz="1000">
                          <a:solidFill>
                            <a:srgbClr val="1C1C24"/>
                          </a:solidFill>
                          <a:latin typeface="Segoe UI" panose="020B0502040204020203"/>
                        </a:defRPr>
                      </a:pPr>
                      <a:r>
                        <a:t>15</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Life on Land</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Protect, restore and promote sustainable use of terrestrial ecosystems</a:t>
                      </a:r>
                    </a:p>
                  </a:txBody>
                  <a:tcPr marL="101600" marR="76200" marT="63500" marB="63500" anchor="ctr">
                    <a:solidFill>
                      <a:srgbClr val="F9F7F4"/>
                    </a:solidFill>
                  </a:tcPr>
                </a:tc>
              </a:tr>
              <a:tr h="269240">
                <a:tc>
                  <a:txBody>
                    <a:bodyPr/>
                    <a:lstStyle/>
                    <a:p>
                      <a:pPr>
                        <a:defRPr sz="1000">
                          <a:solidFill>
                            <a:srgbClr val="1C1C24"/>
                          </a:solidFill>
                          <a:latin typeface="Segoe UI" panose="020B0502040204020203"/>
                        </a:defRPr>
                      </a:pPr>
                      <a:r>
                        <a:t>16</a:t>
                      </a:r>
                    </a:p>
                  </a:txBody>
                  <a:tcPr marL="101600" marR="76200" marT="63500" marB="63500" anchor="ctr"/>
                </a:tc>
                <a:tc>
                  <a:txBody>
                    <a:bodyPr/>
                    <a:lstStyle/>
                    <a:p>
                      <a:pPr>
                        <a:defRPr sz="1000">
                          <a:solidFill>
                            <a:srgbClr val="1C1C24"/>
                          </a:solidFill>
                          <a:latin typeface="Segoe UI" panose="020B0502040204020203"/>
                        </a:defRPr>
                      </a:pPr>
                      <a:r>
                        <a:t>Peace, Justice &amp; Strong Institutions</a:t>
                      </a:r>
                    </a:p>
                  </a:txBody>
                  <a:tcPr marL="101600" marR="76200" marT="63500" marB="63500" anchor="ctr"/>
                </a:tc>
                <a:tc>
                  <a:txBody>
                    <a:bodyPr/>
                    <a:lstStyle/>
                    <a:p>
                      <a:pPr>
                        <a:defRPr sz="1000">
                          <a:solidFill>
                            <a:srgbClr val="1C1C24"/>
                          </a:solidFill>
                          <a:latin typeface="Segoe UI" panose="020B0502040204020203"/>
                        </a:defRPr>
                      </a:pPr>
                      <a:r>
                        <a:t>Promote peaceful and inclusive societies for sustainable development</a:t>
                      </a:r>
                    </a:p>
                  </a:txBody>
                  <a:tcPr marL="101600" marR="76200" marT="63500" marB="63500" anchor="ctr"/>
                </a:tc>
              </a:tr>
              <a:tr h="269240">
                <a:tc>
                  <a:txBody>
                    <a:bodyPr/>
                    <a:lstStyle/>
                    <a:p>
                      <a:pPr>
                        <a:defRPr sz="1000">
                          <a:solidFill>
                            <a:srgbClr val="1C1C24"/>
                          </a:solidFill>
                          <a:latin typeface="Segoe UI" panose="020B0502040204020203"/>
                        </a:defRPr>
                      </a:pPr>
                      <a:r>
                        <a:t>17</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Partnerships for the Goals</a:t>
                      </a:r>
                    </a:p>
                  </a:txBody>
                  <a:tcPr marL="101600" marR="76200" marT="63500" marB="63500" anchor="ctr">
                    <a:solidFill>
                      <a:srgbClr val="F9F7F4"/>
                    </a:solidFill>
                  </a:tcPr>
                </a:tc>
                <a:tc>
                  <a:txBody>
                    <a:bodyPr/>
                    <a:lstStyle/>
                    <a:p>
                      <a:pPr>
                        <a:defRPr sz="1000">
                          <a:solidFill>
                            <a:srgbClr val="1C1C24"/>
                          </a:solidFill>
                          <a:latin typeface="Segoe UI" panose="020B0502040204020203"/>
                        </a:defRPr>
                      </a:pPr>
                      <a:r>
                        <a:t>Strengthen the means of implementation and revitalize global partnerships</a:t>
                      </a:r>
                    </a:p>
                  </a:txBody>
                  <a:tcPr marL="101600" marR="76200" marT="63500" marB="63500" anchor="ctr">
                    <a:solidFill>
                      <a:srgbClr val="F9F7F4"/>
                    </a:solidFill>
                  </a:tcPr>
                </a:tc>
              </a:tr>
            </a:tbl>
          </a:graphicData>
        </a:graphic>
      </p:graphicFrame>
      <p:sp>
        <p:nvSpPr>
          <p:cNvPr id="7" name="TextBox 6"/>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21</a:t>
            </a:r>
          </a:p>
        </p:txBody>
      </p:sp>
    </p:spTree>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220"/>
              </a:lnSpc>
              <a:spcAft>
                <a:spcPts val="400"/>
              </a:spcAft>
              <a:defRPr sz="2800" b="1">
                <a:solidFill>
                  <a:srgbClr val="1C1C24"/>
                </a:solidFill>
                <a:latin typeface="Georgia" panose="02040502050405020303"/>
              </a:defRPr>
            </a:pPr>
            <a:r>
              <a:t>Appendix B: Carbon Calculator Methodology</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Emission factors, calculation logic, and rating thresholds used in our interactive tool</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417320"/>
            <a:ext cx="5029200" cy="32004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Calculation Formula</a:t>
            </a:r>
          </a:p>
        </p:txBody>
      </p:sp>
      <p:sp>
        <p:nvSpPr>
          <p:cNvPr id="7" name="TextBox 6"/>
          <p:cNvSpPr txBox="1"/>
          <p:nvPr/>
        </p:nvSpPr>
        <p:spPr>
          <a:xfrm>
            <a:off x="1097280" y="1828800"/>
            <a:ext cx="5029200" cy="274320"/>
          </a:xfrm>
          <a:prstGeom prst="rect">
            <a:avLst/>
          </a:prstGeom>
          <a:noFill/>
        </p:spPr>
        <p:txBody>
          <a:bodyPr wrap="square" anchor="t"/>
          <a:lstStyle/>
          <a:p>
            <a:pPr algn="l">
              <a:lnSpc>
                <a:spcPts val="1265"/>
              </a:lnSpc>
              <a:spcAft>
                <a:spcPts val="400"/>
              </a:spcAft>
              <a:defRPr sz="1100" b="0">
                <a:solidFill>
                  <a:srgbClr val="1C1C24"/>
                </a:solidFill>
                <a:latin typeface="Consolas" panose="020B0609020204030204"/>
              </a:defRPr>
            </a:pPr>
          </a:p>
          <a:p>
            <a:pPr algn="l">
              <a:lnSpc>
                <a:spcPts val="1150"/>
              </a:lnSpc>
              <a:spcAft>
                <a:spcPts val="300"/>
              </a:spcAft>
              <a:defRPr sz="1000" b="0">
                <a:solidFill>
                  <a:srgbClr val="1C1C24"/>
                </a:solidFill>
                <a:latin typeface="Consolas" panose="020B0609020204030204"/>
              </a:defRPr>
            </a:pPr>
            <a:r>
              <a:t>▹  Car: carDistance × 0.2 kg CO₂ / km</a:t>
            </a:r>
          </a:p>
          <a:p>
            <a:pPr algn="l">
              <a:lnSpc>
                <a:spcPts val="1150"/>
              </a:lnSpc>
              <a:spcAft>
                <a:spcPts val="300"/>
              </a:spcAft>
              <a:defRPr sz="1000" b="0">
                <a:solidFill>
                  <a:srgbClr val="1C1C24"/>
                </a:solidFill>
                <a:latin typeface="Consolas" panose="020B0609020204030204"/>
              </a:defRPr>
            </a:pPr>
            <a:r>
              <a:t>▹  Public Transport: publicTransport × 0.05 kg CO₂ / km</a:t>
            </a:r>
          </a:p>
          <a:p>
            <a:pPr algn="l">
              <a:lnSpc>
                <a:spcPts val="1150"/>
              </a:lnSpc>
              <a:spcAft>
                <a:spcPts val="300"/>
              </a:spcAft>
              <a:defRPr sz="1000" b="0">
                <a:solidFill>
                  <a:srgbClr val="1C1C24"/>
                </a:solidFill>
                <a:latin typeface="Consolas" panose="020B0609020204030204"/>
              </a:defRPr>
            </a:pPr>
            <a:r>
              <a:t>▹  Flights: flights × 250 kg CO₂ per flight</a:t>
            </a:r>
          </a:p>
          <a:p>
            <a:pPr algn="l">
              <a:lnSpc>
                <a:spcPts val="1150"/>
              </a:lnSpc>
              <a:spcAft>
                <a:spcPts val="300"/>
              </a:spcAft>
              <a:defRPr sz="1000" b="0">
                <a:solidFill>
                  <a:srgbClr val="1C1C24"/>
                </a:solidFill>
                <a:latin typeface="Consolas" panose="020B0609020204030204"/>
              </a:defRPr>
            </a:pPr>
            <a:r>
              <a:t>▹  Electricity: electricity × 0.5 kg CO₂ / kWh</a:t>
            </a:r>
          </a:p>
          <a:p>
            <a:pPr algn="l">
              <a:lnSpc>
                <a:spcPts val="1150"/>
              </a:lnSpc>
              <a:spcAft>
                <a:spcPts val="300"/>
              </a:spcAft>
              <a:defRPr sz="1000" b="0">
                <a:solidFill>
                  <a:srgbClr val="1C1C24"/>
                </a:solidFill>
                <a:latin typeface="Consolas" panose="020B0609020204030204"/>
              </a:defRPr>
            </a:pPr>
            <a:r>
              <a:t>▹  Natural Gas: gas × 2.3 kg CO₂ / m³</a:t>
            </a:r>
          </a:p>
          <a:p>
            <a:pPr algn="l">
              <a:lnSpc>
                <a:spcPts val="1150"/>
              </a:lnSpc>
              <a:spcAft>
                <a:spcPts val="300"/>
              </a:spcAft>
              <a:defRPr sz="1000" b="0">
                <a:solidFill>
                  <a:srgbClr val="1C1C24"/>
                </a:solidFill>
                <a:latin typeface="Consolas" panose="020B0609020204030204"/>
              </a:defRPr>
            </a:pPr>
            <a:r>
              <a:t>▹  Heating: heating × 1.8 kg CO₂ per unit</a:t>
            </a:r>
          </a:p>
          <a:p>
            <a:pPr algn="l">
              <a:lnSpc>
                <a:spcPts val="1150"/>
              </a:lnSpc>
              <a:spcAft>
                <a:spcPts val="300"/>
              </a:spcAft>
              <a:defRPr sz="1000" b="0">
                <a:solidFill>
                  <a:srgbClr val="1C1C24"/>
                </a:solidFill>
                <a:latin typeface="Consolas" panose="020B0609020204030204"/>
              </a:defRPr>
            </a:pPr>
            <a:r>
              <a:t>▹  Meat Offset: (21 − meatDays) × 0.05 kg CO₂ credit</a:t>
            </a:r>
          </a:p>
          <a:p>
            <a:pPr algn="l">
              <a:lnSpc>
                <a:spcPts val="1150"/>
              </a:lnSpc>
              <a:spcAft>
                <a:spcPts val="300"/>
              </a:spcAft>
              <a:defRPr sz="1000" b="0">
                <a:solidFill>
                  <a:srgbClr val="1C1C24"/>
                </a:solidFill>
                <a:latin typeface="Consolas" panose="020B0609020204030204"/>
              </a:defRPr>
            </a:pPr>
            <a:r>
              <a:t>▹  Local Food: localFood × 0.1 kg CO₂ benefit</a:t>
            </a:r>
          </a:p>
          <a:p>
            <a:pPr algn="l">
              <a:lnSpc>
                <a:spcPts val="1150"/>
              </a:lnSpc>
              <a:spcAft>
                <a:spcPts val="300"/>
              </a:spcAft>
              <a:defRPr sz="1000" b="0">
                <a:solidFill>
                  <a:srgbClr val="1C1C24"/>
                </a:solidFill>
                <a:latin typeface="Consolas" panose="020B0609020204030204"/>
              </a:defRPr>
            </a:pPr>
            <a:r>
              <a:t>▹  No Recycling Penalty: +100 kg CO₂</a:t>
            </a:r>
          </a:p>
          <a:p>
            <a:pPr algn="l">
              <a:lnSpc>
                <a:spcPts val="1150"/>
              </a:lnSpc>
              <a:spcAft>
                <a:spcPts val="300"/>
              </a:spcAft>
              <a:defRPr sz="1000" b="0">
                <a:solidFill>
                  <a:srgbClr val="1C1C24"/>
                </a:solidFill>
                <a:latin typeface="Consolas" panose="020B0609020204030204"/>
              </a:defRPr>
            </a:pPr>
            <a:r>
              <a:t>▹  No Composting Penalty: +50 kg CO₂</a:t>
            </a:r>
          </a:p>
        </p:txBody>
      </p:sp>
      <p:sp>
        <p:nvSpPr>
          <p:cNvPr id="8" name="TextBox 7"/>
          <p:cNvSpPr txBox="1"/>
          <p:nvPr/>
        </p:nvSpPr>
        <p:spPr>
          <a:xfrm>
            <a:off x="6400800" y="1417320"/>
            <a:ext cx="4572000" cy="32004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Rating Thresholds &amp; Interpretation</a:t>
            </a:r>
          </a:p>
        </p:txBody>
      </p:sp>
      <p:sp>
        <p:nvSpPr>
          <p:cNvPr id="9" name="TextBox 8"/>
          <p:cNvSpPr txBox="1"/>
          <p:nvPr/>
        </p:nvSpPr>
        <p:spPr>
          <a:xfrm>
            <a:off x="6400800" y="1828800"/>
            <a:ext cx="5029200" cy="274320"/>
          </a:xfrm>
          <a:prstGeom prst="rect">
            <a:avLst/>
          </a:prstGeom>
          <a:noFill/>
        </p:spPr>
        <p:txBody>
          <a:bodyPr wrap="square" anchor="t"/>
          <a:lstStyle/>
          <a:p>
            <a:pPr algn="l">
              <a:lnSpc>
                <a:spcPts val="1380"/>
              </a:lnSpc>
              <a:spcAft>
                <a:spcPts val="400"/>
              </a:spcAft>
              <a:defRPr sz="1200" b="0">
                <a:solidFill>
                  <a:srgbClr val="1C1C24"/>
                </a:solidFill>
                <a:latin typeface="Segoe UI" panose="020B0502040204020203"/>
              </a:defRPr>
            </a:pPr>
          </a:p>
          <a:p>
            <a:pPr algn="l">
              <a:lnSpc>
                <a:spcPts val="1380"/>
              </a:lnSpc>
              <a:spcAft>
                <a:spcPts val="600"/>
              </a:spcAft>
              <a:defRPr sz="1200" b="1">
                <a:solidFill>
                  <a:srgbClr val="5C8D6D"/>
                </a:solidFill>
                <a:latin typeface="Segoe UI" panose="020B0502040204020203"/>
              </a:defRPr>
            </a:pPr>
            <a:r>
              <a:t>Excellent (Below 3,000 kg CO₂/year)</a:t>
            </a:r>
          </a:p>
          <a:p>
            <a:pPr algn="l">
              <a:lnSpc>
                <a:spcPts val="1265"/>
              </a:lnSpc>
              <a:spcAft>
                <a:spcPts val="800"/>
              </a:spcAft>
              <a:defRPr sz="1100" b="0">
                <a:solidFill>
                  <a:srgbClr val="6B6560"/>
                </a:solidFill>
                <a:latin typeface="Segoe UI" panose="020B0502040204020203"/>
              </a:defRPr>
            </a:pPr>
            <a:r>
              <a:t>    Your footprint is well below average — keep it up!</a:t>
            </a:r>
          </a:p>
          <a:p>
            <a:pPr algn="l">
              <a:lnSpc>
                <a:spcPts val="1380"/>
              </a:lnSpc>
              <a:spcAft>
                <a:spcPts val="600"/>
              </a:spcAft>
              <a:defRPr sz="1200" b="1">
                <a:solidFill>
                  <a:srgbClr val="2C5282"/>
                </a:solidFill>
                <a:latin typeface="Segoe UI" panose="020B0502040204020203"/>
              </a:defRPr>
            </a:pPr>
            <a:r>
              <a:t>Good (3,000 – 6,000 kg CO₂/year)</a:t>
            </a:r>
          </a:p>
          <a:p>
            <a:pPr algn="l">
              <a:lnSpc>
                <a:spcPts val="1265"/>
              </a:lnSpc>
              <a:spcAft>
                <a:spcPts val="800"/>
              </a:spcAft>
              <a:defRPr sz="1100" b="0">
                <a:solidFill>
                  <a:srgbClr val="6B6560"/>
                </a:solidFill>
                <a:latin typeface="Segoe UI" panose="020B0502040204020203"/>
              </a:defRPr>
            </a:pPr>
            <a:r>
              <a:t>    Moderate footprint with clear room for improvement</a:t>
            </a:r>
          </a:p>
          <a:p>
            <a:pPr algn="l">
              <a:lnSpc>
                <a:spcPts val="1380"/>
              </a:lnSpc>
              <a:spcAft>
                <a:spcPts val="600"/>
              </a:spcAft>
              <a:defRPr sz="1200" b="1">
                <a:solidFill>
                  <a:srgbClr val="C48B5C"/>
                </a:solidFill>
                <a:latin typeface="Segoe UI" panose="020B0502040204020203"/>
              </a:defRPr>
            </a:pPr>
            <a:r>
              <a:t>Average (6,000 – 10,000 kg CO₂/year)</a:t>
            </a:r>
          </a:p>
          <a:p>
            <a:pPr algn="l">
              <a:lnSpc>
                <a:spcPts val="1265"/>
              </a:lnSpc>
              <a:spcAft>
                <a:spcPts val="800"/>
              </a:spcAft>
              <a:defRPr sz="1100" b="0">
                <a:solidFill>
                  <a:srgbClr val="6B6560"/>
                </a:solidFill>
                <a:latin typeface="Segoe UI" panose="020B0502040204020203"/>
              </a:defRPr>
            </a:pPr>
            <a:r>
              <a:t>    Above sustainable levels — consider targeted reductions</a:t>
            </a:r>
          </a:p>
          <a:p>
            <a:pPr algn="l">
              <a:lnSpc>
                <a:spcPts val="1380"/>
              </a:lnSpc>
              <a:spcAft>
                <a:spcPts val="600"/>
              </a:spcAft>
              <a:defRPr sz="1200" b="1">
                <a:solidFill>
                  <a:srgbClr val="B8573E"/>
                </a:solidFill>
                <a:latin typeface="Segoe UI" panose="020B0502040204020203"/>
              </a:defRPr>
            </a:pPr>
            <a:r>
              <a:t>High (Above 10,000 kg CO₂/year)</a:t>
            </a:r>
          </a:p>
          <a:p>
            <a:pPr algn="l">
              <a:lnSpc>
                <a:spcPts val="1265"/>
              </a:lnSpc>
              <a:spcAft>
                <a:spcPts val="800"/>
              </a:spcAft>
              <a:defRPr sz="1100" b="0">
                <a:solidFill>
                  <a:srgbClr val="6B6560"/>
                </a:solidFill>
                <a:latin typeface="Segoe UI" panose="020B0502040204020203"/>
              </a:defRPr>
            </a:pPr>
            <a:r>
              <a:t>    Urgent action needed to reduce environmental impact</a:t>
            </a:r>
          </a:p>
        </p:txBody>
      </p:sp>
      <p:sp>
        <p:nvSpPr>
          <p:cNvPr id="10" name="TextBox 9"/>
          <p:cNvSpPr txBox="1"/>
          <p:nvPr/>
        </p:nvSpPr>
        <p:spPr>
          <a:xfrm>
            <a:off x="6400800" y="4114800"/>
            <a:ext cx="5029200" cy="27432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Data Sources</a:t>
            </a:r>
          </a:p>
        </p:txBody>
      </p:sp>
      <p:sp>
        <p:nvSpPr>
          <p:cNvPr id="11" name="TextBox 10"/>
          <p:cNvSpPr txBox="1"/>
          <p:nvPr/>
        </p:nvSpPr>
        <p:spPr>
          <a:xfrm>
            <a:off x="6400800" y="4480560"/>
            <a:ext cx="5029200" cy="109728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IPCC Fifth &amp; Sixth Assessment Reports</a:t>
            </a:r>
            <a:br/>
            <a:r>
              <a:t>EPA Greenhouse Gas Equivalencies Calculator</a:t>
            </a:r>
            <a:br/>
            <a:r>
              <a:t>World Bank CO₂ Emissions Data</a:t>
            </a:r>
            <a:br/>
            <a:r>
              <a:t>UNEP Emissions Gap Reports</a:t>
            </a:r>
          </a:p>
        </p:txBody>
      </p:sp>
      <p:sp>
        <p:nvSpPr>
          <p:cNvPr id="12" name="TextBox 11"/>
          <p:cNvSpPr txBox="1"/>
          <p:nvPr/>
        </p:nvSpPr>
        <p:spPr>
          <a:xfrm>
            <a:off x="1097280" y="4434840"/>
            <a:ext cx="5029200" cy="274320"/>
          </a:xfrm>
          <a:prstGeom prst="rect">
            <a:avLst/>
          </a:prstGeom>
          <a:noFill/>
        </p:spPr>
        <p:txBody>
          <a:bodyPr wrap="square" anchor="t"/>
          <a:lstStyle/>
          <a:p>
            <a:pPr algn="l">
              <a:lnSpc>
                <a:spcPts val="2530"/>
              </a:lnSpc>
              <a:spcAft>
                <a:spcPts val="400"/>
              </a:spcAft>
              <a:defRPr sz="2200" b="1">
                <a:solidFill>
                  <a:srgbClr val="1C1C24"/>
                </a:solidFill>
                <a:latin typeface="Georgia" panose="02040502050405020303"/>
              </a:defRPr>
            </a:pPr>
            <a:r>
              <a:t>Global Context</a:t>
            </a:r>
          </a:p>
        </p:txBody>
      </p:sp>
      <p:sp>
        <p:nvSpPr>
          <p:cNvPr id="13" name="TextBox 12"/>
          <p:cNvSpPr txBox="1"/>
          <p:nvPr/>
        </p:nvSpPr>
        <p:spPr>
          <a:xfrm>
            <a:off x="1097280" y="4800600"/>
            <a:ext cx="5029200" cy="1280160"/>
          </a:xfrm>
          <a:prstGeom prst="rect">
            <a:avLst/>
          </a:prstGeom>
          <a:noFill/>
        </p:spPr>
        <p:txBody>
          <a:bodyPr wrap="square" anchor="t"/>
          <a:lstStyle/>
          <a:p>
            <a:pPr algn="l">
              <a:lnSpc>
                <a:spcPts val="1265"/>
              </a:lnSpc>
              <a:spcAft>
                <a:spcPts val="400"/>
              </a:spcAft>
              <a:defRPr sz="1100" b="0">
                <a:solidFill>
                  <a:srgbClr val="6B6560"/>
                </a:solidFill>
                <a:latin typeface="Segoe UI" panose="020B0502040204020203"/>
              </a:defRPr>
            </a:pPr>
            <a:r>
              <a:t>Global average: ~4,000 kg CO₂/person/year</a:t>
            </a:r>
            <a:br/>
            <a:r>
              <a:t>Sustainable target: &lt; 2,000 kg CO₂/person/year</a:t>
            </a:r>
            <a:br/>
            <a:r>
              <a:t>China average: ~7,400 kg CO₂/person/year</a:t>
            </a:r>
            <a:br/>
            <a:r>
              <a:t>USA average: ~14,700 kg CO₂/person/year</a:t>
            </a:r>
          </a:p>
        </p:txBody>
      </p:sp>
      <p:sp>
        <p:nvSpPr>
          <p:cNvPr id="14" name="TextBox 13"/>
          <p:cNvSpPr txBox="1"/>
          <p:nvPr/>
        </p:nvSpPr>
        <p:spPr>
          <a:xfrm>
            <a:off x="10789920" y="6446520"/>
            <a:ext cx="1097280" cy="320040"/>
          </a:xfrm>
          <a:prstGeom prst="rect">
            <a:avLst/>
          </a:prstGeom>
          <a:noFill/>
        </p:spPr>
        <p:txBody>
          <a:bodyPr wrap="square" anchor="t"/>
          <a:lstStyle/>
          <a:p>
            <a:pPr algn="r">
              <a:lnSpc>
                <a:spcPts val="1035"/>
              </a:lnSpc>
              <a:spcAft>
                <a:spcPts val="400"/>
              </a:spcAft>
              <a:defRPr sz="900" b="0">
                <a:solidFill>
                  <a:srgbClr val="F0EBE4"/>
                </a:solidFill>
                <a:latin typeface="Segoe UI" panose="020B0502040204020203"/>
              </a:defRPr>
            </a:pPr>
            <a:r>
              <a:t>22</a:t>
            </a:r>
          </a:p>
        </p:txBody>
      </p:sp>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16443</Words>
  <Application>WPS 演示</Application>
  <PresentationFormat>On-screen Show (4:3)</PresentationFormat>
  <Paragraphs>755</Paragraphs>
  <Slides>22</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22</vt:i4>
      </vt:variant>
    </vt:vector>
  </HeadingPairs>
  <TitlesOfParts>
    <vt:vector size="33" baseType="lpstr">
      <vt:lpstr>Arial</vt:lpstr>
      <vt:lpstr>宋体</vt:lpstr>
      <vt:lpstr>Wingdings</vt:lpstr>
      <vt:lpstr>Arial</vt:lpstr>
      <vt:lpstr>Segoe UI</vt:lpstr>
      <vt:lpstr>Georgia</vt:lpstr>
      <vt:lpstr>Calibri</vt:lpstr>
      <vt:lpstr>微软雅黑</vt:lpstr>
      <vt:lpstr>Arial Unicode MS</vt:lpstr>
      <vt:lpstr>Consolas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懒鬼</cp:lastModifiedBy>
  <cp:revision>2</cp:revision>
  <dcterms:created xsi:type="dcterms:W3CDTF">2013-01-27T09:14:00Z</dcterms:created>
  <dcterms:modified xsi:type="dcterms:W3CDTF">2026-06-11T17:30:28Z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D99BBE57043D4DCAB6DEC757CCFC487F_12</vt:lpwstr>
  </property>
</Properties>
</file>