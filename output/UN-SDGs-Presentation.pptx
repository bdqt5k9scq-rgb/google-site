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2560320"/>
            <a:ext cx="301752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3800" b="1">
                <a:solidFill>
                  <a:srgbClr val="FFFFFF"/>
                </a:solidFill>
                <a:latin typeface="Georgia"/>
              </a:defRPr>
            </a:pPr>
            <a:r>
              <a:t>UN Sustainable Development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2200" b="0">
                <a:solidFill>
                  <a:srgbClr val="C48B5C"/>
                </a:solidFill>
                <a:latin typeface="Georgia"/>
              </a:defRPr>
            </a:pPr>
            <a:r>
              <a:t>Acting for Our Common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400" b="0">
                <a:solidFill>
                  <a:srgbClr val="AAAABB"/>
                </a:solidFill>
                <a:latin typeface="Segoe UI"/>
              </a:defRPr>
            </a:pPr>
            <a:r>
              <a:t>Li Shuhang · Feng Jingyi · Wang Luyang · Lu Jianning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Course Presentation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Presentation Outline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2926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54864" cy="155448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01. Introduction to the SDGs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402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2926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645920"/>
            <a:ext cx="54864" cy="155448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02. The 17 Sustainable Development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406640" y="1645920"/>
            <a:ext cx="2926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54864" cy="155448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03. Why the World Needs SDGs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2402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1097280" y="3429000"/>
            <a:ext cx="2926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429000"/>
            <a:ext cx="54864" cy="155448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611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04. Our Team &amp; Project 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233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4251960" y="3429000"/>
            <a:ext cx="2926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429000"/>
            <a:ext cx="54864" cy="155448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611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05. Interactive Features &amp; Technology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406640" y="3429000"/>
            <a:ext cx="2926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3429000"/>
            <a:ext cx="54864" cy="155448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80" y="3611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06. Key Takeaways &amp; Call to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40233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What Are the SDGs?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The Sustainable Development Goals (SDGs) are 17 interconnected global goals adopted by all United Nations Member States in 2015 as part of the 2030 Agenda for Sustainable Development — a shared blueprint for peace and prosperity for people and the planet, now and into the future.</a:t>
            </a:r>
          </a:p>
        </p:txBody>
      </p:sp>
      <p:sp>
        <p:nvSpPr>
          <p:cNvPr id="5" name="Oval 4"/>
          <p:cNvSpPr/>
          <p:nvPr/>
        </p:nvSpPr>
        <p:spPr>
          <a:xfrm>
            <a:off x="2377440" y="3657600"/>
            <a:ext cx="1005840" cy="1005840"/>
          </a:xfrm>
          <a:prstGeom prst="ellipse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SDGs Adopted</a:t>
            </a:r>
            <a:br/>
            <a:r>
              <a:t>by 193 countries</a:t>
            </a:r>
          </a:p>
        </p:txBody>
      </p:sp>
      <p:sp>
        <p:nvSpPr>
          <p:cNvPr id="7" name="Oval 6"/>
          <p:cNvSpPr/>
          <p:nvPr/>
        </p:nvSpPr>
        <p:spPr>
          <a:xfrm>
            <a:off x="5577840" y="3657600"/>
            <a:ext cx="1005840" cy="1005840"/>
          </a:xfrm>
          <a:prstGeom prst="ellipse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846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Midpoint Review</a:t>
            </a:r>
            <a:br/>
            <a:r>
              <a:t>Progress assessed</a:t>
            </a:r>
          </a:p>
        </p:txBody>
      </p:sp>
      <p:sp>
        <p:nvSpPr>
          <p:cNvPr id="9" name="Oval 8"/>
          <p:cNvSpPr/>
          <p:nvPr/>
        </p:nvSpPr>
        <p:spPr>
          <a:xfrm>
            <a:off x="8778240" y="3657600"/>
            <a:ext cx="1005840" cy="1005840"/>
          </a:xfrm>
          <a:prstGeom prst="ellipse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46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Target Year</a:t>
            </a:r>
            <a:br/>
            <a:r>
              <a:t>Goals to be achieved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Key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40967" y="228600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3847" y="25603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4000" b="1">
                <a:solidFill>
                  <a:srgbClr val="C48B5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3847" y="3749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Sustainable Development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9847" y="228600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92727" y="25603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4000" b="1">
                <a:solidFill>
                  <a:srgbClr val="C48B5C"/>
                </a:solidFill>
                <a:latin typeface="Georgia"/>
              </a:defRPr>
            </a:pPr>
            <a:r>
              <a:t>193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2727" y="3749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Member States Committed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28600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25603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4000" b="1">
                <a:solidFill>
                  <a:srgbClr val="C48B5C"/>
                </a:solidFill>
                <a:latin typeface="Georgia"/>
              </a:defRPr>
            </a:pPr>
            <a:r>
              <a:t>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3749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Target Year for Achievement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47607" y="228600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0487" y="25603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4000" b="1">
                <a:solidFill>
                  <a:srgbClr val="C48B5C"/>
                </a:solidFill>
                <a:latin typeface="Georgia"/>
              </a:defRPr>
            </a:pPr>
            <a:r>
              <a:t>169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0487" y="3749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Specific Action Targets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Why the World Needs SDGs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8087" y="2011680"/>
            <a:ext cx="3108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8087" y="2011680"/>
            <a:ext cx="54864" cy="347472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78127" y="21945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Unprecedented Global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8127" y="2606040"/>
            <a:ext cx="26060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Climate change drives extreme weather with global temperatures up 1.1°C since pre-industrial times. Over 700 million people still live in extreme poverty. No single nation can solve these challenges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1367" y="2011680"/>
            <a:ext cx="3108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1367" y="2011680"/>
            <a:ext cx="54864" cy="347472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1407" y="21945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A Unified Action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1407" y="2606040"/>
            <a:ext cx="26060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The SDGs provide an integrated framework recognizing that economic development, social inclusion, and environmental protection are inseparable. This systemic thinking ensures solving one problem does not worsen another.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647" y="2011680"/>
            <a:ext cx="3108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4647" y="2011680"/>
            <a:ext cx="54864" cy="347472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687" y="21945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Leave No One Behind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687" y="2606040"/>
            <a:ext cx="26060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With 169 specific targets and 232 indicators, the SDGs enable coordinated action across governments, businesses, civil society, and individuals — ensuring development reaches the most vulnerable populations.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The 17 Sustainable Development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1417320" cy="960120"/>
          </a:xfrm>
          <a:prstGeom prst="roundRect">
            <a:avLst/>
          </a:prstGeom>
          <a:solidFill>
            <a:srgbClr val="E5243B"/>
          </a:solidFill>
          <a:ln w="12700">
            <a:solidFill>
              <a:srgbClr val="E5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No Poverty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645920"/>
            <a:ext cx="1417320" cy="960120"/>
          </a:xfrm>
          <a:prstGeom prst="roundRect">
            <a:avLst/>
          </a:prstGeom>
          <a:solidFill>
            <a:srgbClr val="DDA63A"/>
          </a:solidFill>
          <a:ln w="12700">
            <a:solidFill>
              <a:srgbClr val="DD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574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Zero Hunger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45920"/>
            <a:ext cx="1417320" cy="960120"/>
          </a:xfrm>
          <a:prstGeom prst="roundRect">
            <a:avLst/>
          </a:prstGeom>
          <a:solidFill>
            <a:srgbClr val="4C9F38"/>
          </a:solidFill>
          <a:ln w="12700">
            <a:solidFill>
              <a:srgbClr val="4C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574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Good 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645920"/>
            <a:ext cx="1417320" cy="960120"/>
          </a:xfrm>
          <a:prstGeom prst="roundRect">
            <a:avLst/>
          </a:prstGeom>
          <a:solidFill>
            <a:srgbClr val="C5192D"/>
          </a:solidFill>
          <a:ln w="12700">
            <a:solidFill>
              <a:srgbClr val="C5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0574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Quality Education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645920"/>
            <a:ext cx="1417320" cy="960120"/>
          </a:xfrm>
          <a:prstGeom prst="roundRect">
            <a:avLst/>
          </a:prstGeom>
          <a:solidFill>
            <a:srgbClr val="FF3A21"/>
          </a:solidFill>
          <a:ln w="12700">
            <a:solidFill>
              <a:srgbClr val="FF3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0574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Gender Equality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645920"/>
            <a:ext cx="1417320" cy="960120"/>
          </a:xfrm>
          <a:prstGeom prst="roundRect">
            <a:avLst/>
          </a:prstGeom>
          <a:solidFill>
            <a:srgbClr val="26BDE2"/>
          </a:solidFill>
          <a:ln w="12700">
            <a:solidFill>
              <a:srgbClr val="26B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0574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Clean Water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43200"/>
            <a:ext cx="1417320" cy="960120"/>
          </a:xfrm>
          <a:prstGeom prst="roundRect">
            <a:avLst/>
          </a:prstGeom>
          <a:solidFill>
            <a:srgbClr val="FCC30B"/>
          </a:solidFill>
          <a:ln w="12700">
            <a:solidFill>
              <a:srgbClr val="FCC3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15468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Clean Energy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2743200"/>
            <a:ext cx="1417320" cy="960120"/>
          </a:xfrm>
          <a:prstGeom prst="roundRect">
            <a:avLst/>
          </a:prstGeom>
          <a:solidFill>
            <a:srgbClr val="A21942"/>
          </a:solidFill>
          <a:ln w="12700">
            <a:solidFill>
              <a:srgbClr val="A21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15468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Decent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2743200"/>
            <a:ext cx="1417320" cy="960120"/>
          </a:xfrm>
          <a:prstGeom prst="roundRect">
            <a:avLst/>
          </a:prstGeom>
          <a:solidFill>
            <a:srgbClr val="FD6925"/>
          </a:solidFill>
          <a:ln w="12700">
            <a:solidFill>
              <a:srgbClr val="FD6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15468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Industry &amp; Innovation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2743200"/>
            <a:ext cx="1417320" cy="960120"/>
          </a:xfrm>
          <a:prstGeom prst="roundRect">
            <a:avLst/>
          </a:prstGeom>
          <a:solidFill>
            <a:srgbClr val="DD1367"/>
          </a:solidFill>
          <a:ln w="12700">
            <a:solidFill>
              <a:srgbClr val="DD1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15468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Reduced Inequalities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2743200"/>
            <a:ext cx="1417320" cy="960120"/>
          </a:xfrm>
          <a:prstGeom prst="roundRect">
            <a:avLst/>
          </a:prstGeom>
          <a:solidFill>
            <a:srgbClr val="FD9D24"/>
          </a:solidFill>
          <a:ln w="12700">
            <a:solidFill>
              <a:srgbClr val="FD9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15468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Sustainable Cities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2743200"/>
            <a:ext cx="1417320" cy="960120"/>
          </a:xfrm>
          <a:prstGeom prst="roundRect">
            <a:avLst/>
          </a:prstGeom>
          <a:solidFill>
            <a:srgbClr val="BF8B2E"/>
          </a:solidFill>
          <a:ln w="12700">
            <a:solidFill>
              <a:srgbClr val="BF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15468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Responsible Consumption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3840480"/>
            <a:ext cx="1417320" cy="960120"/>
          </a:xfrm>
          <a:prstGeom prst="roundRect">
            <a:avLst/>
          </a:prstGeom>
          <a:solidFill>
            <a:srgbClr val="3F7E44"/>
          </a:solidFill>
          <a:ln w="12700">
            <a:solidFill>
              <a:srgbClr val="3F7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3886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2519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Climate Action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51760" y="3840480"/>
            <a:ext cx="1417320" cy="960120"/>
          </a:xfrm>
          <a:prstGeom prst="roundRect">
            <a:avLst/>
          </a:prstGeom>
          <a:solidFill>
            <a:srgbClr val="009444"/>
          </a:solidFill>
          <a:ln w="12700">
            <a:solidFill>
              <a:srgbClr val="009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0" y="3886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2519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Life Below Water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40" y="3840480"/>
            <a:ext cx="1417320" cy="960120"/>
          </a:xfrm>
          <a:prstGeom prst="roundRect">
            <a:avLst/>
          </a:prstGeom>
          <a:solidFill>
            <a:srgbClr val="00A651"/>
          </a:solidFill>
          <a:ln w="12700">
            <a:solidFill>
              <a:srgbClr val="00A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3886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42519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Life on Land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60720" y="3840480"/>
            <a:ext cx="1417320" cy="960120"/>
          </a:xfrm>
          <a:prstGeom prst="roundRect">
            <a:avLst/>
          </a:prstGeom>
          <a:solidFill>
            <a:srgbClr val="19489D"/>
          </a:solidFill>
          <a:ln w="12700">
            <a:solidFill>
              <a:srgbClr val="194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0" y="3886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42519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Peace &amp; Justice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0" y="3840480"/>
            <a:ext cx="1417320" cy="960120"/>
          </a:xfrm>
          <a:prstGeom prst="roundRect">
            <a:avLst/>
          </a:prstGeom>
          <a:solidFill>
            <a:srgbClr val="192841"/>
          </a:solidFill>
          <a:ln w="12700">
            <a:solidFill>
              <a:srgbClr val="19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3886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42519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r>
              <a:t>Partnerships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Goals Grouped — The 5P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4663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783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C48B5C"/>
                </a:solidFill>
                <a:latin typeface="Georgia"/>
              </a:defRPr>
            </a:pPr>
            <a:r>
              <a:t>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End poverty and hunger, ensure dignity and equality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560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1C1C24"/>
                </a:solidFill>
                <a:latin typeface="Segoe UI"/>
              </a:defRPr>
            </a:pPr>
            <a:r>
              <a:t>SDG 1 · SDG 2 · SDG 3 · SDG 4 · SDG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4663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C48B5C"/>
                </a:solidFill>
                <a:latin typeface="Georgia"/>
              </a:defRPr>
            </a:pPr>
            <a:r>
              <a:t>Planet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Protect natural resources and climate for future generations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560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1C1C24"/>
                </a:solidFill>
                <a:latin typeface="Segoe UI"/>
              </a:defRPr>
            </a:pPr>
            <a:r>
              <a:t>SDG 6 · SDG 12 · SDG 13 · SDG 14 · SDG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Goals Grouped — Prosperity, Peace &amp; Partnership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4663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783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C48B5C"/>
                </a:solidFill>
                <a:latin typeface="Georgia"/>
              </a:defRPr>
            </a:pPr>
            <a:r>
              <a:t>Prosperity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Ensure prosperous and fulfilling lives in harmony with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1C1C24"/>
                </a:solidFill>
                <a:latin typeface="Segoe UI"/>
              </a:defRPr>
            </a:pPr>
            <a:r>
              <a:t>SDG 7 · SDG 8 · SDG 9 · SDG 10 · SDG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4663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C48B5C"/>
                </a:solidFill>
                <a:latin typeface="Georgia"/>
              </a:defRPr>
            </a:pPr>
            <a:r>
              <a:t>Peace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Foster peaceful, just, and inclusive societies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560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1C1C24"/>
                </a:solidFill>
                <a:latin typeface="Segoe UI"/>
              </a:defRPr>
            </a:pPr>
            <a:r>
              <a:t>SDG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023360"/>
            <a:ext cx="4663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160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C48B5C"/>
                </a:solidFill>
                <a:latin typeface="Georgia"/>
              </a:defRPr>
            </a:pPr>
            <a:r>
              <a:t>Partnership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480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Strengthen global solidarity and means of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9377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1C1C24"/>
                </a:solidFill>
                <a:latin typeface="Segoe UI"/>
              </a:defRPr>
            </a:pPr>
            <a:r>
              <a:t>SDG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Spotlight: SDG 13 — Climate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137160" cy="320040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400" b="1">
                <a:solidFill>
                  <a:srgbClr val="1C1C24"/>
                </a:solidFill>
                <a:latin typeface="Georgia"/>
              </a:defRPr>
            </a:pPr>
            <a:r>
              <a:t>SDG 13: Climate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1C1C24"/>
                </a:solidFill>
                <a:latin typeface="Segoe UI"/>
              </a:defRPr>
            </a:pPr>
            <a:r>
              <a:t>Key Facts: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•  Global average temperature has risen approximately 1.1°C above pre-industrial levels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•  Climate-related disasters have increased by over 80% in the last decade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•  To limit warming to 1.5°C, global emissions must decline by 45% by 2030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•  Every fraction of a degree matters — the difference between 1.5°C and 2°C means 10 million more people at risk from sea-level 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Spotlight: SDG 4 — Quality Education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137160" cy="3200400"/>
          </a:xfrm>
          <a:prstGeom prst="rect">
            <a:avLst/>
          </a:prstGeom>
          <a:solidFill>
            <a:srgbClr val="C5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400" b="1">
                <a:solidFill>
                  <a:srgbClr val="1C1C24"/>
                </a:solidFill>
                <a:latin typeface="Georgia"/>
              </a:defRPr>
            </a:pPr>
            <a:r>
              <a:t>SDG 4: Quality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1C1C24"/>
                </a:solidFill>
                <a:latin typeface="Segoe UI"/>
              </a:defRPr>
            </a:pPr>
            <a:r>
              <a:t>Key Facts: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•  Before COVID-19, 258 million children and youth were out of school globally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•  Only 58% of students worldwide achieve minimum proficiency in reading and mathematics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•  Quality education is the foundation for improving people's lives and sustainable development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•  Education empowers individuals to escape poverty, fosters tolerance, and drives economic growth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Meet the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807" y="1828800"/>
            <a:ext cx="2240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3807" y="1828800"/>
            <a:ext cx="2240280" cy="731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35327" y="2194560"/>
            <a:ext cx="777240" cy="77724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6687" y="320040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600" b="1">
                <a:solidFill>
                  <a:srgbClr val="1C1C24"/>
                </a:solidFill>
                <a:latin typeface="Georgia"/>
              </a:defRPr>
            </a:pPr>
            <a:r>
              <a:t>Li Shuhang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6687" y="361188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000" b="1">
                <a:solidFill>
                  <a:srgbClr val="C48B5C"/>
                </a:solidFill>
                <a:latin typeface="Segoe UI"/>
              </a:defRPr>
            </a:pPr>
            <a:r>
              <a:t>Project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6687" y="397764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Environmental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6687" y="425196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900" b="0">
                <a:solidFill>
                  <a:srgbClr val="6B6560"/>
                </a:solidFill>
                <a:latin typeface="Consolas"/>
              </a:defRPr>
            </a:pPr>
            <a:r>
              <a:t>ID: 8168667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8407" y="1828800"/>
            <a:ext cx="2240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18407" y="1828800"/>
            <a:ext cx="2240280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49927" y="2194560"/>
            <a:ext cx="777240" cy="77724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287" y="320040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600" b="1">
                <a:solidFill>
                  <a:srgbClr val="1C1C24"/>
                </a:solidFill>
                <a:latin typeface="Georgia"/>
              </a:defRPr>
            </a:pPr>
            <a:r>
              <a:t>Feng Jingyi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1287" y="361188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000" b="1">
                <a:solidFill>
                  <a:srgbClr val="C48B5C"/>
                </a:solidFill>
                <a:latin typeface="Segoe UI"/>
              </a:defRPr>
            </a:pPr>
            <a:r>
              <a:t>Tech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1287" y="397764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1287" y="425196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900" b="0">
                <a:solidFill>
                  <a:srgbClr val="6B6560"/>
                </a:solidFill>
                <a:latin typeface="Consolas"/>
              </a:defRPr>
            </a:pPr>
            <a:r>
              <a:t>ID: 8168308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828800"/>
            <a:ext cx="2240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1828800"/>
            <a:ext cx="2240280" cy="73152"/>
          </a:xfrm>
          <a:prstGeom prst="rect">
            <a:avLst/>
          </a:prstGeom>
          <a:solidFill>
            <a:srgbClr val="5C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64527" y="2194560"/>
            <a:ext cx="777240" cy="777240"/>
          </a:xfrm>
          <a:prstGeom prst="ellipse">
            <a:avLst/>
          </a:prstGeom>
          <a:solidFill>
            <a:srgbClr val="5C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320040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600" b="1">
                <a:solidFill>
                  <a:srgbClr val="1C1C24"/>
                </a:solidFill>
                <a:latin typeface="Georgia"/>
              </a:defRPr>
            </a:pPr>
            <a:r>
              <a:t>Wang Luyang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361188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000" b="1">
                <a:solidFill>
                  <a:srgbClr val="C48B5C"/>
                </a:solidFill>
                <a:latin typeface="Segoe UI"/>
              </a:defRPr>
            </a:pPr>
            <a:r>
              <a:t>Policy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397764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International Affairs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425196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900" b="0">
                <a:solidFill>
                  <a:srgbClr val="6B6560"/>
                </a:solidFill>
                <a:latin typeface="Consolas"/>
              </a:defRPr>
            </a:pPr>
            <a:r>
              <a:t>ID: 8168505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47607" y="1828800"/>
            <a:ext cx="2240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47607" y="1828800"/>
            <a:ext cx="2240280" cy="73152"/>
          </a:xfrm>
          <a:prstGeom prst="rect">
            <a:avLst/>
          </a:prstGeom>
          <a:solidFill>
            <a:srgbClr val="B85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79127" y="2194560"/>
            <a:ext cx="777240" cy="777240"/>
          </a:xfrm>
          <a:prstGeom prst="ellipse">
            <a:avLst/>
          </a:prstGeom>
          <a:solidFill>
            <a:srgbClr val="B85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0487" y="320040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600" b="1">
                <a:solidFill>
                  <a:srgbClr val="1C1C24"/>
                </a:solidFill>
                <a:latin typeface="Georgia"/>
              </a:defRPr>
            </a:pPr>
            <a:r>
              <a:t>Lu Jianning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0487" y="361188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000" b="1">
                <a:solidFill>
                  <a:srgbClr val="C48B5C"/>
                </a:solidFill>
                <a:latin typeface="Segoe UI"/>
              </a:defRPr>
            </a:pPr>
            <a:r>
              <a:t>Data Analyst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0487" y="397764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Statistics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0487" y="425196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900" b="0">
                <a:solidFill>
                  <a:srgbClr val="6B6560"/>
                </a:solidFill>
                <a:latin typeface="Consolas"/>
              </a:defRPr>
            </a:pPr>
            <a:r>
              <a:t>ID: 8168379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Team SDG Assignments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828800"/>
          <a:ext cx="1045159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4114800"/>
                <a:gridCol w="1764792"/>
              </a:tblGrid>
              <a:tr h="6583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SDG Focus</a:t>
                      </a:r>
                    </a:p>
                  </a:txBody>
                  <a:tcPr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Background</a:t>
                      </a:r>
                    </a:p>
                  </a:txBody>
                  <a:tcPr>
                    <a:solidFill>
                      <a:srgbClr val="0D0D1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Li Shuhang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SDG 6, 7, 13, 14, 15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Environmental science background aligns with planet-focused goals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Environmental Science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Feng Jingyi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SDG 8, 9, 11,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CS expertise drives tech-enabled sustainable industry and 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Computer Science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Wang Luyang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SDG 1, 2, 5, 10, 16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International affairs knowledge supports equity and justice goals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International Affairs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Lu Jianning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SDG 3, 4,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Statistics background enables data-driven health and education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Statistics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Project Mission &amp;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4663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54864" cy="201168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82880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40280"/>
            <a:ext cx="4160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Promote awareness and action around the UN SDGs through education, digital tools, and community engagement. We aim to make sustainable development knowledge accessible to 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4663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54864" cy="201168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4160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A future where every individual understands their role in sustainable development and takes meaningful action toward a just, peaceful, and environmentally responsible world.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72387" y="4023360"/>
            <a:ext cx="2240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547" y="41605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C48B5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9547" y="43434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1C1C24"/>
                </a:solidFill>
                <a:latin typeface="Georgia"/>
              </a:defRPr>
            </a:pPr>
            <a:r>
              <a:t>Public Awareness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547" y="47091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Increase public awareness and understanding of the SDGs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1267" y="4023360"/>
            <a:ext cx="2240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8427" y="41605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C48B5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8427" y="43434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1C1C24"/>
                </a:solidFill>
                <a:latin typeface="Georgia"/>
              </a:defRPr>
            </a:pPr>
            <a:r>
              <a:t>Educational 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8427" y="47091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Provide educational tools and resources for individuals and organizations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147" y="4023360"/>
            <a:ext cx="2240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7307" y="41605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C48B5C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3434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1C1C24"/>
                </a:solidFill>
                <a:latin typeface="Georgia"/>
              </a:defRPr>
            </a:pPr>
            <a:r>
              <a:t>Cross-Disciplinary Collaboration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307" y="47091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Promote interdisciplinary cooperation and knowledge sharing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79027" y="4023360"/>
            <a:ext cx="2240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16187" y="41605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C48B5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6187" y="43434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1C1C24"/>
                </a:solidFill>
                <a:latin typeface="Georgia"/>
              </a:defRPr>
            </a:pPr>
            <a:r>
              <a:t>Localized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6187" y="47091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Drive localized sustainable development action and practice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Website Showcase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72387" y="1828800"/>
            <a:ext cx="2240280" cy="1463040"/>
          </a:xfrm>
          <a:prstGeom prst="roundRect">
            <a:avLst/>
          </a:prstGeom>
          <a:solidFill>
            <a:srgbClr val="F0EBE4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55267" y="228600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[Homepage</a:t>
            </a:r>
            <a:br/>
            <a:r>
              <a:t>Screenshot]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2387" y="34290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400" b="1">
                <a:solidFill>
                  <a:srgbClr val="1C1C24"/>
                </a:solidFill>
                <a:latin typeface="Georgia"/>
              </a:defRPr>
            </a:pPr>
            <a:r>
              <a:t>Homepage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2387" y="37490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Hero, stats, 17-goal grid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1267" y="1828800"/>
            <a:ext cx="2240280" cy="1463040"/>
          </a:xfrm>
          <a:prstGeom prst="roundRect">
            <a:avLst/>
          </a:prstGeom>
          <a:solidFill>
            <a:srgbClr val="F0EBE4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24147" y="228600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[SDGs Explorer</a:t>
            </a:r>
            <a:br/>
            <a:r>
              <a:t>Screenshot]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1267" y="34290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400" b="1">
                <a:solidFill>
                  <a:srgbClr val="1C1C24"/>
                </a:solidFill>
                <a:latin typeface="Georgia"/>
              </a:defRPr>
            </a:pPr>
            <a:r>
              <a:t>SDGs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1267" y="37490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Detailed goal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828800"/>
            <a:ext cx="2240280" cy="1463040"/>
          </a:xfrm>
          <a:prstGeom prst="roundRect">
            <a:avLst/>
          </a:prstGeom>
          <a:solidFill>
            <a:srgbClr val="F0EBE4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228600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[Carbon Calculator</a:t>
            </a:r>
            <a:br/>
            <a:r>
              <a:t>Screenshot]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34290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400" b="1">
                <a:solidFill>
                  <a:srgbClr val="1C1C24"/>
                </a:solidFill>
                <a:latin typeface="Georgia"/>
              </a:defRPr>
            </a:pPr>
            <a:r>
              <a:t>Carbon 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37490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Interactive footprint tool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79027" y="1828800"/>
            <a:ext cx="2240280" cy="1463040"/>
          </a:xfrm>
          <a:prstGeom prst="roundRect">
            <a:avLst/>
          </a:prstGeom>
          <a:solidFill>
            <a:srgbClr val="F0EBE4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1907" y="228600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[Act Now</a:t>
            </a:r>
            <a:br/>
            <a:r>
              <a:t>Screenshot]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9027" y="34290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400" b="1">
                <a:solidFill>
                  <a:srgbClr val="1C1C24"/>
                </a:solidFill>
                <a:latin typeface="Georgia"/>
              </a:defRPr>
            </a:pPr>
            <a:r>
              <a:t>Act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9027" y="37490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Individual action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9997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1">
                <a:solidFill>
                  <a:srgbClr val="C48B5C"/>
                </a:solidFill>
                <a:latin typeface="Segoe UI"/>
              </a:defRPr>
            </a:pPr>
            <a:r>
              <a:t>Built with: Vue 3 + TypeScript + GSAP Animations + Vite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Carbon Footprint Calculator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49527" y="1645920"/>
            <a:ext cx="2286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32407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C48B5C"/>
                </a:solidFill>
                <a:latin typeface="Georgia"/>
              </a:defRPr>
            </a:pPr>
            <a:r>
              <a:t>Transportation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2407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Car distance: 0.2 kg CO₂/km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Public transport: 0.05 kg/km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Flights: 250 kg/flight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8407" y="1645920"/>
            <a:ext cx="2286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1287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C48B5C"/>
                </a:solidFill>
                <a:latin typeface="Georgia"/>
              </a:defRPr>
            </a:pPr>
            <a:r>
              <a:t>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287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Electricity: 0.5 kg/kWh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Gas: 2.3 kg/m³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Heating: 1.8 kg/unit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645920"/>
            <a:ext cx="2286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C48B5C"/>
                </a:solidFill>
                <a:latin typeface="Georgia"/>
              </a:defRPr>
            </a:pPr>
            <a:r>
              <a:t>Food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Meat consumption: reduction credit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Local food sourcing: 0.1 kg benefit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56167" y="1645920"/>
            <a:ext cx="2286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9047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C48B5C"/>
                </a:solidFill>
                <a:latin typeface="Georgia"/>
              </a:defRPr>
            </a:pPr>
            <a:r>
              <a:t>Waste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9047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Recycling: -100 kg if not done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Composting: -50 kg if not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9997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1C1C24"/>
                </a:solidFill>
                <a:latin typeface="Segoe UI"/>
              </a:defRPr>
            </a:pPr>
            <a:r>
              <a:t>Rating Levels:  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5C8D6D"/>
                </a:solidFill>
                <a:latin typeface="Segoe UI"/>
              </a:defRPr>
            </a:pPr>
            <a:r>
              <a:t>Excellent: &lt; 3,000 kg/year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2C5282"/>
                </a:solidFill>
                <a:latin typeface="Segoe UI"/>
              </a:defRPr>
            </a:pPr>
            <a:r>
              <a:t>Good: 3,000 – 6,000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C48B5C"/>
                </a:solidFill>
                <a:latin typeface="Segoe UI"/>
              </a:defRPr>
            </a:pPr>
            <a:r>
              <a:t>Average: 6,000 – 10,000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B8573E"/>
                </a:solidFill>
                <a:latin typeface="Segoe UI"/>
              </a:defRPr>
            </a:pPr>
            <a:r>
              <a:t>High: &gt; 10,000 kg/year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Act Now — Individual Action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4663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54864" cy="173736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82880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Transport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40280"/>
            <a:ext cx="4160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✓  Use public transit or bicycle instead of driving</a:t>
            </a:r>
            <a:br/>
            <a:r>
              <a:t>✓  Reduce long-distance flights; consider video conferencing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4663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54864" cy="173736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4160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✓  Use energy-efficient appliances</a:t>
            </a:r>
            <a:br/>
            <a:r>
              <a:t>✓  Turn off lights and devices when not in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749040"/>
            <a:ext cx="4663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3749040"/>
            <a:ext cx="54864" cy="173736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93192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Food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43400"/>
            <a:ext cx="4160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✓  Reduce meat consumption; eat more plant-based foods</a:t>
            </a:r>
            <a:br/>
            <a:r>
              <a:t>✓  Choose locally sourced food products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749040"/>
            <a:ext cx="4663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3749040"/>
            <a:ext cx="54864" cy="1737360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1C1C24"/>
                </a:solidFill>
                <a:latin typeface="Georgia"/>
              </a:defRPr>
            </a:pPr>
            <a:r>
              <a:t>Waste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43400"/>
            <a:ext cx="4160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✓  Start waste sorting and recycling</a:t>
            </a:r>
            <a:br/>
            <a:r>
              <a:t>✓  Try composting kitchen waste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Technology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86687" y="1828800"/>
            <a:ext cx="2011680" cy="1280160"/>
          </a:xfrm>
          <a:prstGeom prst="roundRect">
            <a:avLst/>
          </a:prstGeom>
          <a:solidFill>
            <a:srgbClr val="C48B5C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3847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3847" y="224028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Vue 3 SPA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8367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2000" b="0">
                <a:solidFill>
                  <a:srgbClr val="C48B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55567" y="1828800"/>
            <a:ext cx="2011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2727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C48B5C"/>
                </a:solidFill>
                <a:latin typeface="Segoe UI"/>
              </a:defRPr>
            </a:pPr>
            <a:r>
              <a:t>Vue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2727" y="224028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1C1C24"/>
                </a:solidFill>
                <a:latin typeface="Segoe UI"/>
              </a:defRPr>
            </a:pPr>
            <a:r>
              <a:t>6 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247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2000" b="0">
                <a:solidFill>
                  <a:srgbClr val="C48B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828800"/>
            <a:ext cx="2011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C48B5C"/>
                </a:solidFill>
                <a:latin typeface="Segoe UI"/>
              </a:defRPr>
            </a:pPr>
            <a:r>
              <a:t>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24028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1C1C24"/>
                </a:solidFill>
                <a:latin typeface="Segoe UI"/>
              </a:defRPr>
            </a:pPr>
            <a:r>
              <a:t>Home · About · SDGs</a:t>
            </a:r>
            <a:br/>
            <a:r>
              <a:t>Team · Carbon ·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27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2000" b="0">
                <a:solidFill>
                  <a:srgbClr val="C48B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3327" y="1828800"/>
            <a:ext cx="2011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0487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C48B5C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0487" y="224028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1C1C24"/>
                </a:solidFill>
                <a:latin typeface="Segoe UI"/>
              </a:defRPr>
            </a:pPr>
            <a:r>
              <a:t>GSAP Animations</a:t>
            </a:r>
            <a:br/>
            <a:r>
              <a:t>Scoped CSS</a:t>
            </a:r>
            <a:br/>
            <a:r>
              <a:t>TypeScript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097280" y="356616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D0D1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Frontend Framework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Vue 3 (Composition API)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TypeScript (strict mode)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Routing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Vue Router 4 (history mode)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Animations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GSAP + ScrollTrigger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Build Tool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Vite 6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Styling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Scoped CSS + Global Styles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645920"/>
            <a:ext cx="502920" cy="502920"/>
          </a:xfrm>
          <a:prstGeom prst="ellipse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The SDGs are an interconnected framework — progress on one goal accelerates others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560320"/>
            <a:ext cx="502920" cy="502920"/>
          </a:xfrm>
          <a:prstGeom prst="ellipse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06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Everyone has a role to play — governments, businesses, communities, and individuals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474720"/>
            <a:ext cx="502920" cy="502920"/>
          </a:xfrm>
          <a:prstGeom prst="ellipse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20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Technology and education are powerful tools for SDG awareness and action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502920" cy="502920"/>
          </a:xfrm>
          <a:prstGeom prst="ellipse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434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Local actions drive global change — start with your own carbon footprint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5303520"/>
            <a:ext cx="502920" cy="502920"/>
          </a:xfrm>
          <a:prstGeom prst="ellipse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349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0">
                <a:solidFill>
                  <a:srgbClr val="1C1C24"/>
                </a:solidFill>
                <a:latin typeface="Segoe UI"/>
              </a:defRPr>
            </a:pPr>
            <a:r>
              <a:t>2030 is only 4 years away — urgent, coordinated action is essential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3017520"/>
            <a:ext cx="210312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Act for Our Common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400" b="0">
                <a:solidFill>
                  <a:srgbClr val="6B6560"/>
                </a:solidFill>
                <a:latin typeface="Segoe UI"/>
              </a:defRPr>
            </a:pPr>
            <a:r>
              <a:t>Start by calculating your carbon footprint. Every action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C48B5C"/>
                </a:solidFill>
                <a:latin typeface="Segoe UI"/>
              </a:defRPr>
            </a:pPr>
            <a:r>
              <a:t>Visit our website to explore the 17 goals and take action today.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6459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3200" b="1">
                <a:solidFill>
                  <a:srgbClr val="1C1C24"/>
                </a:solidFill>
                <a:latin typeface="Georgia"/>
              </a:defRPr>
            </a:pPr>
            <a: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1C1C24"/>
                </a:solidFill>
                <a:latin typeface="Segoe UI"/>
              </a:defRPr>
            </a:pPr>
            <a:r>
              <a:t>References: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United Nations. (2015). Transforming Our World: The 2030 Agenda for Sustainable Development. UN General Assembly.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IPCC. (2023). Climate Change 2023: Synthesis Report. Intergovernmental Panel on Climate Change.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UN Statistics Division. SDG Indicators Global Database. https://unstats.un.org/sdgs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•  UN SDG Official Website. https://sdgs.un.org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100" b="0">
                <a:solidFill>
                  <a:srgbClr val="C48B5C"/>
                </a:solidFill>
                <a:latin typeface="Segoe UI"/>
              </a:defRPr>
            </a:pPr>
            <a:r>
              <a:t>Team: Li Shuhang · Feng Jingyi · Wang Luyang · Lu Jianning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949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1400" b="0">
                <a:solidFill>
                  <a:srgbClr val="6B6560"/>
                </a:solidFill>
                <a:latin typeface="Segoe UI"/>
              </a:defRPr>
            </a:pPr>
            <a:r>
              <a:t>Questions &amp; Discussion Welcome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Appendix: Full 17 Goals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7772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3840480"/>
              </a:tblGrid>
              <a:tr h="269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Chinese Name</a:t>
                      </a:r>
                    </a:p>
                  </a:txBody>
                  <a:tcPr>
                    <a:solidFill>
                      <a:srgbClr val="0D0D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English Name</a:t>
                      </a:r>
                    </a:p>
                  </a:txBody>
                  <a:tcPr>
                    <a:solidFill>
                      <a:srgbClr val="0D0D18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消除贫困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No Poverty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零饥饿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Zero Hunger</a:t>
                      </a:r>
                    </a:p>
                  </a:txBody>
                  <a:tcPr/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良好健康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Good Health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优质教育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Quality Education</a:t>
                      </a:r>
                    </a:p>
                  </a:txBody>
                  <a:tcPr/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性别平等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Gender Equality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清洁饮水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Clean Water</a:t>
                      </a:r>
                    </a:p>
                  </a:txBody>
                  <a:tcPr/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清洁能源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Clean Energy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体面工作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Decent Work</a:t>
                      </a:r>
                    </a:p>
                  </a:txBody>
                  <a:tcPr/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产业创新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Industry &amp; Innovation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减少不平等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Reduced Inequalities</a:t>
                      </a:r>
                    </a:p>
                  </a:txBody>
                  <a:tcPr/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可持续城市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Sustainable Cities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负责任消费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Responsible Consumption</a:t>
                      </a:r>
                    </a:p>
                  </a:txBody>
                  <a:tcPr/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气候行动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Climate Action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水下生物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Life Below Water</a:t>
                      </a:r>
                    </a:p>
                  </a:txBody>
                  <a:tcPr/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陆地生物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Life on Land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和平正义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Peace &amp; Justice</a:t>
                      </a:r>
                    </a:p>
                  </a:txBody>
                  <a:tcPr/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伙伴关系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C24"/>
                          </a:solidFill>
                          <a:latin typeface="Segoe UI"/>
                        </a:defRPr>
                      </a:pPr>
                      <a:r>
                        <a:t>Partnerships</a:t>
                      </a:r>
                    </a:p>
                  </a:txBody>
                  <a:tcPr>
                    <a:solidFill>
                      <a:srgbClr val="F9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868680"/>
            <a:ext cx="548640" cy="36576"/>
          </a:xfrm>
          <a:prstGeom prst="rect">
            <a:avLst/>
          </a:prstGeom>
          <a:solidFill>
            <a:srgbClr val="C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1C1C24"/>
                </a:solidFill>
                <a:latin typeface="Georgia"/>
              </a:defRPr>
            </a:pPr>
            <a:r>
              <a:t>Appendix: Carbon Calculator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200" b="1">
                <a:solidFill>
                  <a:srgbClr val="1C1C24"/>
                </a:solidFill>
                <a:latin typeface="Georgia"/>
              </a:defRPr>
            </a:pPr>
            <a:r>
              <a:t>Emission Factors &amp; Calculation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1C1C24"/>
                </a:solidFill>
                <a:latin typeface="Segoe UI"/>
              </a:defRPr>
            </a:pPr>
            <a:r>
              <a:t>Calculation Formula: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C1C24"/>
                </a:solidFill>
                <a:latin typeface="Consolas"/>
              </a:defRPr>
            </a:pPr>
            <a:r>
              <a:t>•  Car: carDistance (km) × 0.2 kg CO₂/km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C1C24"/>
                </a:solidFill>
                <a:latin typeface="Consolas"/>
              </a:defRPr>
            </a:pPr>
            <a:r>
              <a:t>•  Public Transport: publicTransport (km) × 0.05 kg CO₂/km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C1C24"/>
                </a:solidFill>
                <a:latin typeface="Consolas"/>
              </a:defRPr>
            </a:pPr>
            <a:r>
              <a:t>•  Flights: flights × 250 kg CO₂/flight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C1C24"/>
                </a:solidFill>
                <a:latin typeface="Consolas"/>
              </a:defRPr>
            </a:pPr>
            <a:r>
              <a:t>•  Electricity: electricity (kWh) × 0.5 kg CO₂/kWh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C1C24"/>
                </a:solidFill>
                <a:latin typeface="Consolas"/>
              </a:defRPr>
            </a:pPr>
            <a:r>
              <a:t>•  Gas: gas (m³) × 2.3 kg CO₂/m³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C1C24"/>
                </a:solidFill>
                <a:latin typeface="Consolas"/>
              </a:defRPr>
            </a:pPr>
            <a:r>
              <a:t>•  Heating: heating (units) × 1.8 kg CO₂/unit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C1C24"/>
                </a:solidFill>
                <a:latin typeface="Consolas"/>
              </a:defRPr>
            </a:pPr>
            <a:r>
              <a:t>•  Meat: (21 - meatDays) × 0.05 kg CO₂ (reduction credit)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C1C24"/>
                </a:solidFill>
                <a:latin typeface="Consolas"/>
              </a:defRPr>
            </a:pPr>
            <a:r>
              <a:t>•  Local Food: localFood × 0.1 kg CO₂ (benefit)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C1C24"/>
                </a:solidFill>
                <a:latin typeface="Consolas"/>
              </a:defRPr>
            </a:pPr>
            <a:r>
              <a:t>•  Recycling: +100 kg CO₂ if NOT recycling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C1C24"/>
                </a:solidFill>
                <a:latin typeface="Consolas"/>
              </a:defRPr>
            </a:pPr>
            <a:r>
              <a:t>•  Composting: +50 kg CO₂ if NOT composting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1C1C24"/>
                </a:solidFill>
                <a:latin typeface="Segoe UI"/>
              </a:defRPr>
            </a:pPr>
            <a:r>
              <a:t>Rating Thresholds: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100" b="0">
                <a:solidFill>
                  <a:srgbClr val="1C1C24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5C8D6D"/>
                </a:solidFill>
                <a:latin typeface="Segoe UI"/>
              </a:defRPr>
            </a:pPr>
            <a:r>
              <a:t>Excellent: &lt; 3,000 kg/year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2C5282"/>
                </a:solidFill>
                <a:latin typeface="Segoe UI"/>
              </a:defRPr>
            </a:pPr>
            <a:r>
              <a:t>Good: 3,000 – 6,000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C48B5C"/>
                </a:solidFill>
                <a:latin typeface="Segoe UI"/>
              </a:defRPr>
            </a:pPr>
            <a:r>
              <a:t>Average: 6,000 – 10,000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B8573E"/>
                </a:solidFill>
                <a:latin typeface="Segoe UI"/>
              </a:defRPr>
            </a:pPr>
            <a:r>
              <a:t>High: &gt; 10,000 kg/year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1C1C24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1100" b="0">
                <a:solidFill>
                  <a:srgbClr val="6B6560"/>
                </a:solidFill>
                <a:latin typeface="Segoe UI"/>
              </a:defRPr>
            </a:pPr>
            <a:r>
              <a:t>Source: IPCC emission factors and</a:t>
            </a:r>
            <a:br/>
            <a:r>
              <a:t>peer-reviewed methodologies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